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7" r:id="rId10"/>
    <p:sldId id="280" r:id="rId11"/>
    <p:sldId id="266" r:id="rId12"/>
    <p:sldId id="282" r:id="rId13"/>
    <p:sldId id="271" r:id="rId14"/>
    <p:sldId id="284" r:id="rId15"/>
    <p:sldId id="268" r:id="rId16"/>
    <p:sldId id="269" r:id="rId17"/>
    <p:sldId id="283" r:id="rId18"/>
    <p:sldId id="272" r:id="rId19"/>
    <p:sldId id="281" r:id="rId20"/>
    <p:sldId id="287" r:id="rId21"/>
    <p:sldId id="288" r:id="rId22"/>
    <p:sldId id="290" r:id="rId23"/>
    <p:sldId id="291" r:id="rId24"/>
    <p:sldId id="273" r:id="rId25"/>
    <p:sldId id="286" r:id="rId26"/>
    <p:sldId id="289" r:id="rId27"/>
    <p:sldId id="278" r:id="rId28"/>
    <p:sldId id="285" r:id="rId29"/>
    <p:sldId id="302" r:id="rId30"/>
    <p:sldId id="292" r:id="rId31"/>
    <p:sldId id="293" r:id="rId32"/>
    <p:sldId id="294" r:id="rId33"/>
    <p:sldId id="295" r:id="rId34"/>
    <p:sldId id="296" r:id="rId35"/>
    <p:sldId id="297" r:id="rId36"/>
    <p:sldId id="298" r:id="rId37"/>
    <p:sldId id="299" r:id="rId38"/>
    <p:sldId id="300" r:id="rId39"/>
    <p:sldId id="301" r:id="rId4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B2F166-ED86-4DDE-AC5F-BC24A59427FE}" type="datetimeFigureOut">
              <a:rPr lang="en-IN" smtClean="0"/>
              <a:t>21-08-2026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A3E683-0FCC-4C4C-A763-0E4E9535B3BF}" type="slidenum">
              <a:rPr lang="en-IN" smtClean="0"/>
              <a:t>‹#›</a:t>
            </a:fld>
            <a:endParaRPr lang="en-IN"/>
          </a:p>
        </p:txBody>
      </p:sp>
    </p:spTree>
    <p:extLst>
      <p:ext uri="{BB962C8B-B14F-4D97-AF65-F5344CB8AC3E}">
        <p14:creationId xmlns:p14="http://schemas.microsoft.com/office/powerpoint/2010/main" val="665456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DA3E683-0FCC-4C4C-A763-0E4E9535B3BF}" type="slidenum">
              <a:rPr lang="en-IN" smtClean="0"/>
              <a:t>31</a:t>
            </a:fld>
            <a:endParaRPr lang="en-IN"/>
          </a:p>
        </p:txBody>
      </p:sp>
    </p:spTree>
    <p:extLst>
      <p:ext uri="{BB962C8B-B14F-4D97-AF65-F5344CB8AC3E}">
        <p14:creationId xmlns:p14="http://schemas.microsoft.com/office/powerpoint/2010/main" val="346893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BF681D7-9BAD-434D-AF33-6F7A0E81489D}"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BEEDDF-180A-470C-A6BC-12B579F1A3E5}" type="slidenum">
              <a:rPr lang="en-IN" smtClean="0"/>
              <a:t>‹#›</a:t>
            </a:fld>
            <a:endParaRPr lang="en-IN"/>
          </a:p>
        </p:txBody>
      </p:sp>
    </p:spTree>
    <p:extLst>
      <p:ext uri="{BB962C8B-B14F-4D97-AF65-F5344CB8AC3E}">
        <p14:creationId xmlns:p14="http://schemas.microsoft.com/office/powerpoint/2010/main" val="882603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BF681D7-9BAD-434D-AF33-6F7A0E81489D}"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BEEDDF-180A-470C-A6BC-12B579F1A3E5}" type="slidenum">
              <a:rPr lang="en-IN" smtClean="0"/>
              <a:t>‹#›</a:t>
            </a:fld>
            <a:endParaRPr lang="en-IN"/>
          </a:p>
        </p:txBody>
      </p:sp>
    </p:spTree>
    <p:extLst>
      <p:ext uri="{BB962C8B-B14F-4D97-AF65-F5344CB8AC3E}">
        <p14:creationId xmlns:p14="http://schemas.microsoft.com/office/powerpoint/2010/main" val="3461863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BF681D7-9BAD-434D-AF33-6F7A0E81489D}"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BEEDDF-180A-470C-A6BC-12B579F1A3E5}" type="slidenum">
              <a:rPr lang="en-IN" smtClean="0"/>
              <a:t>‹#›</a:t>
            </a:fld>
            <a:endParaRPr lang="en-IN"/>
          </a:p>
        </p:txBody>
      </p:sp>
    </p:spTree>
    <p:extLst>
      <p:ext uri="{BB962C8B-B14F-4D97-AF65-F5344CB8AC3E}">
        <p14:creationId xmlns:p14="http://schemas.microsoft.com/office/powerpoint/2010/main" val="2077147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BF681D7-9BAD-434D-AF33-6F7A0E81489D}" type="datetimeFigureOut">
              <a:rPr lang="en-IN" smtClean="0"/>
              <a:t>21-08-2026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BEEDDF-180A-470C-A6BC-12B579F1A3E5}" type="slidenum">
              <a:rPr lang="en-IN" smtClean="0"/>
              <a:t>‹#›</a:t>
            </a:fld>
            <a:endParaRPr lang="en-IN"/>
          </a:p>
        </p:txBody>
      </p:sp>
    </p:spTree>
    <p:extLst>
      <p:ext uri="{BB962C8B-B14F-4D97-AF65-F5344CB8AC3E}">
        <p14:creationId xmlns:p14="http://schemas.microsoft.com/office/powerpoint/2010/main" val="2216656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BF681D7-9BAD-434D-AF33-6F7A0E81489D}" type="datetimeFigureOut">
              <a:rPr lang="en-IN" smtClean="0"/>
              <a:t>21-08-2026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BEEDDF-180A-470C-A6BC-12B579F1A3E5}" type="slidenum">
              <a:rPr lang="en-IN" smtClean="0"/>
              <a:t>‹#›</a:t>
            </a:fld>
            <a:endParaRPr lang="en-IN"/>
          </a:p>
        </p:txBody>
      </p:sp>
    </p:spTree>
    <p:extLst>
      <p:ext uri="{BB962C8B-B14F-4D97-AF65-F5344CB8AC3E}">
        <p14:creationId xmlns:p14="http://schemas.microsoft.com/office/powerpoint/2010/main" val="2375386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BF681D7-9BAD-434D-AF33-6F7A0E81489D}" type="datetimeFigureOut">
              <a:rPr lang="en-IN" smtClean="0"/>
              <a:t>21-08-2026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BEEDDF-180A-470C-A6BC-12B579F1A3E5}" type="slidenum">
              <a:rPr lang="en-IN" smtClean="0"/>
              <a:t>‹#›</a:t>
            </a:fld>
            <a:endParaRPr lang="en-IN"/>
          </a:p>
        </p:txBody>
      </p:sp>
    </p:spTree>
    <p:extLst>
      <p:ext uri="{BB962C8B-B14F-4D97-AF65-F5344CB8AC3E}">
        <p14:creationId xmlns:p14="http://schemas.microsoft.com/office/powerpoint/2010/main" val="1562387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F681D7-9BAD-434D-AF33-6F7A0E81489D}" type="datetimeFigureOut">
              <a:rPr lang="en-IN" smtClean="0"/>
              <a:t>21-08-2026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7BEEDDF-180A-470C-A6BC-12B579F1A3E5}" type="slidenum">
              <a:rPr lang="en-IN" smtClean="0"/>
              <a:t>‹#›</a:t>
            </a:fld>
            <a:endParaRPr lang="en-IN"/>
          </a:p>
        </p:txBody>
      </p:sp>
    </p:spTree>
    <p:extLst>
      <p:ext uri="{BB962C8B-B14F-4D97-AF65-F5344CB8AC3E}">
        <p14:creationId xmlns:p14="http://schemas.microsoft.com/office/powerpoint/2010/main" val="3976824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F681D7-9BAD-434D-AF33-6F7A0E81489D}" type="datetimeFigureOut">
              <a:rPr lang="en-IN" smtClean="0"/>
              <a:t>21-08-2026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BEEDDF-180A-470C-A6BC-12B579F1A3E5}" type="slidenum">
              <a:rPr lang="en-IN" smtClean="0"/>
              <a:t>‹#›</a:t>
            </a:fld>
            <a:endParaRPr lang="en-IN"/>
          </a:p>
        </p:txBody>
      </p:sp>
    </p:spTree>
    <p:extLst>
      <p:ext uri="{BB962C8B-B14F-4D97-AF65-F5344CB8AC3E}">
        <p14:creationId xmlns:p14="http://schemas.microsoft.com/office/powerpoint/2010/main" val="2434494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F681D7-9BAD-434D-AF33-6F7A0E81489D}" type="datetimeFigureOut">
              <a:rPr lang="en-IN" smtClean="0"/>
              <a:t>21-08-2026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BEEDDF-180A-470C-A6BC-12B579F1A3E5}" type="slidenum">
              <a:rPr lang="en-IN" smtClean="0"/>
              <a:t>‹#›</a:t>
            </a:fld>
            <a:endParaRPr lang="en-IN"/>
          </a:p>
        </p:txBody>
      </p:sp>
    </p:spTree>
    <p:extLst>
      <p:ext uri="{BB962C8B-B14F-4D97-AF65-F5344CB8AC3E}">
        <p14:creationId xmlns:p14="http://schemas.microsoft.com/office/powerpoint/2010/main" val="2139533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BF681D7-9BAD-434D-AF33-6F7A0E81489D}"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BEEDDF-180A-470C-A6BC-12B579F1A3E5}" type="slidenum">
              <a:rPr lang="en-IN" smtClean="0"/>
              <a:t>‹#›</a:t>
            </a:fld>
            <a:endParaRPr lang="en-IN"/>
          </a:p>
        </p:txBody>
      </p:sp>
    </p:spTree>
    <p:extLst>
      <p:ext uri="{BB962C8B-B14F-4D97-AF65-F5344CB8AC3E}">
        <p14:creationId xmlns:p14="http://schemas.microsoft.com/office/powerpoint/2010/main" val="386191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BF681D7-9BAD-434D-AF33-6F7A0E81489D}" type="datetimeFigureOut">
              <a:rPr lang="en-IN" smtClean="0"/>
              <a:t>21-08-2026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BEEDDF-180A-470C-A6BC-12B579F1A3E5}" type="slidenum">
              <a:rPr lang="en-IN" smtClean="0"/>
              <a:t>‹#›</a:t>
            </a:fld>
            <a:endParaRPr lang="en-IN"/>
          </a:p>
        </p:txBody>
      </p:sp>
    </p:spTree>
    <p:extLst>
      <p:ext uri="{BB962C8B-B14F-4D97-AF65-F5344CB8AC3E}">
        <p14:creationId xmlns:p14="http://schemas.microsoft.com/office/powerpoint/2010/main" val="1922723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F681D7-9BAD-434D-AF33-6F7A0E81489D}" type="datetimeFigureOut">
              <a:rPr lang="en-IN" smtClean="0"/>
              <a:t>21-08-2026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BEEDDF-180A-470C-A6BC-12B579F1A3E5}" type="slidenum">
              <a:rPr lang="en-IN" smtClean="0"/>
              <a:t>‹#›</a:t>
            </a:fld>
            <a:endParaRPr lang="en-IN"/>
          </a:p>
        </p:txBody>
      </p:sp>
    </p:spTree>
    <p:extLst>
      <p:ext uri="{BB962C8B-B14F-4D97-AF65-F5344CB8AC3E}">
        <p14:creationId xmlns:p14="http://schemas.microsoft.com/office/powerpoint/2010/main" val="972892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00B050"/>
                </a:solidFill>
                <a:latin typeface="Times New Roman" pitchFamily="18" charset="0"/>
                <a:cs typeface="Times New Roman" pitchFamily="18" charset="0"/>
              </a:rPr>
              <a:t>Wireless Communications and Diversity </a:t>
            </a:r>
            <a:endParaRPr lang="en-IN" b="1"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r>
              <a:rPr lang="en-US" dirty="0"/>
              <a:t>Module 1:</a:t>
            </a:r>
            <a:endParaRPr lang="en-IN" dirty="0"/>
          </a:p>
        </p:txBody>
      </p:sp>
    </p:spTree>
    <p:extLst>
      <p:ext uri="{BB962C8B-B14F-4D97-AF65-F5344CB8AC3E}">
        <p14:creationId xmlns:p14="http://schemas.microsoft.com/office/powerpoint/2010/main" val="1440068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style>
          <a:lnRef idx="2">
            <a:schemeClr val="accent3"/>
          </a:lnRef>
          <a:fillRef idx="1">
            <a:schemeClr val="lt1"/>
          </a:fillRef>
          <a:effectRef idx="0">
            <a:schemeClr val="accent3"/>
          </a:effectRef>
          <a:fontRef idx="minor">
            <a:schemeClr val="dk1"/>
          </a:fontRef>
        </p:style>
        <p:txBody>
          <a:bodyPr/>
          <a:lstStyle/>
          <a:p>
            <a:r>
              <a:rPr lang="en-US" b="1" dirty="0">
                <a:solidFill>
                  <a:srgbClr val="00B050"/>
                </a:solidFill>
                <a:latin typeface="Times New Roman" pitchFamily="18" charset="0"/>
                <a:cs typeface="Times New Roman" pitchFamily="18" charset="0"/>
              </a:rPr>
              <a:t>Mobile Communication</a:t>
            </a:r>
            <a:endParaRPr lang="en-IN" dirty="0">
              <a:solidFill>
                <a:srgbClr val="00B05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556792"/>
            <a:ext cx="8229600" cy="4708525"/>
          </a:xfrm>
        </p:spPr>
        <p:txBody>
          <a:bodyPr>
            <a:normAutofit fontScale="85000" lnSpcReduction="20000"/>
          </a:bodyPr>
          <a:lstStyle/>
          <a:p>
            <a:r>
              <a:rPr lang="en-US" dirty="0">
                <a:latin typeface="Times New Roman" pitchFamily="18" charset="0"/>
                <a:cs typeface="Times New Roman" pitchFamily="18" charset="0"/>
              </a:rPr>
              <a:t>It means sending and receiving information (voice, text, images, video, internet data) without wires, using mobile phones or other wireless devices. It works through radio waves and networks like 2G, 3G, 4G, and now 5G.</a:t>
            </a:r>
          </a:p>
          <a:p>
            <a:r>
              <a:rPr lang="en-US" b="1" dirty="0">
                <a:latin typeface="Times New Roman" pitchFamily="18" charset="0"/>
                <a:cs typeface="Times New Roman" pitchFamily="18" charset="0"/>
              </a:rPr>
              <a:t>1970s–80s:</a:t>
            </a:r>
            <a:r>
              <a:rPr lang="en-US" dirty="0">
                <a:latin typeface="Times New Roman" pitchFamily="18" charset="0"/>
                <a:cs typeface="Times New Roman" pitchFamily="18" charset="0"/>
              </a:rPr>
              <a:t> First mobile phones (1G) – only voice calls, big and heavy.</a:t>
            </a:r>
          </a:p>
          <a:p>
            <a:r>
              <a:rPr lang="en-US" b="1" dirty="0">
                <a:latin typeface="Times New Roman" pitchFamily="18" charset="0"/>
                <a:cs typeface="Times New Roman" pitchFamily="18" charset="0"/>
              </a:rPr>
              <a:t>1990s:</a:t>
            </a:r>
            <a:r>
              <a:rPr lang="en-US" dirty="0">
                <a:latin typeface="Times New Roman" pitchFamily="18" charset="0"/>
                <a:cs typeface="Times New Roman" pitchFamily="18" charset="0"/>
              </a:rPr>
              <a:t> 2G – digital calls + SMS.</a:t>
            </a:r>
          </a:p>
          <a:p>
            <a:r>
              <a:rPr lang="en-US" b="1" dirty="0">
                <a:latin typeface="Times New Roman" pitchFamily="18" charset="0"/>
                <a:cs typeface="Times New Roman" pitchFamily="18" charset="0"/>
              </a:rPr>
              <a:t>2000s:</a:t>
            </a:r>
            <a:r>
              <a:rPr lang="en-US" dirty="0">
                <a:latin typeface="Times New Roman" pitchFamily="18" charset="0"/>
                <a:cs typeface="Times New Roman" pitchFamily="18" charset="0"/>
              </a:rPr>
              <a:t> 3G – internet and video calls started.</a:t>
            </a:r>
          </a:p>
          <a:p>
            <a:r>
              <a:rPr lang="en-US" b="1" dirty="0">
                <a:latin typeface="Times New Roman" pitchFamily="18" charset="0"/>
                <a:cs typeface="Times New Roman" pitchFamily="18" charset="0"/>
              </a:rPr>
              <a:t>2010s:</a:t>
            </a:r>
            <a:r>
              <a:rPr lang="en-US" dirty="0">
                <a:latin typeface="Times New Roman" pitchFamily="18" charset="0"/>
                <a:cs typeface="Times New Roman" pitchFamily="18" charset="0"/>
              </a:rPr>
              <a:t> 4G – fast internet, apps, video streaming.</a:t>
            </a:r>
          </a:p>
          <a:p>
            <a:r>
              <a:rPr lang="en-US" b="1" dirty="0">
                <a:latin typeface="Times New Roman" pitchFamily="18" charset="0"/>
                <a:cs typeface="Times New Roman" pitchFamily="18" charset="0"/>
              </a:rPr>
              <a:t>2020s:</a:t>
            </a:r>
            <a:r>
              <a:rPr lang="en-US" dirty="0">
                <a:latin typeface="Times New Roman" pitchFamily="18" charset="0"/>
                <a:cs typeface="Times New Roman" pitchFamily="18" charset="0"/>
              </a:rPr>
              <a:t> 5G – super-fast speed, low delay, smart devices, </a:t>
            </a:r>
            <a:r>
              <a:rPr lang="en-US" dirty="0" err="1">
                <a:latin typeface="Times New Roman" pitchFamily="18" charset="0"/>
                <a:cs typeface="Times New Roman" pitchFamily="18" charset="0"/>
              </a:rPr>
              <a:t>IoT</a:t>
            </a:r>
            <a:r>
              <a:rPr lang="en-US" dirty="0">
                <a:latin typeface="Times New Roman" pitchFamily="18" charset="0"/>
                <a:cs typeface="Times New Roman" pitchFamily="18" charset="0"/>
              </a:rPr>
              <a:t>.</a:t>
            </a:r>
          </a:p>
        </p:txBody>
      </p:sp>
    </p:spTree>
    <p:extLst>
      <p:ext uri="{BB962C8B-B14F-4D97-AF65-F5344CB8AC3E}">
        <p14:creationId xmlns:p14="http://schemas.microsoft.com/office/powerpoint/2010/main" val="1133581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548680"/>
            <a:ext cx="8229600" cy="1143000"/>
          </a:xfrm>
        </p:spPr>
        <p:style>
          <a:lnRef idx="2">
            <a:schemeClr val="accent3"/>
          </a:lnRef>
          <a:fillRef idx="1">
            <a:schemeClr val="lt1"/>
          </a:fillRef>
          <a:effectRef idx="0">
            <a:schemeClr val="accent3"/>
          </a:effectRef>
          <a:fontRef idx="minor">
            <a:schemeClr val="dk1"/>
          </a:fontRef>
        </p:style>
        <p:txBody>
          <a:bodyPr>
            <a:normAutofit fontScale="90000"/>
          </a:bodyPr>
          <a:lstStyle/>
          <a:p>
            <a:br>
              <a:rPr lang="en-US" b="1" dirty="0">
                <a:solidFill>
                  <a:srgbClr val="00B050"/>
                </a:solidFill>
                <a:latin typeface="Times New Roman" pitchFamily="18" charset="0"/>
                <a:cs typeface="Times New Roman" pitchFamily="18" charset="0"/>
              </a:rPr>
            </a:br>
            <a:r>
              <a:rPr lang="en-US" b="1" dirty="0">
                <a:solidFill>
                  <a:srgbClr val="00B050"/>
                </a:solidFill>
                <a:latin typeface="Times New Roman" pitchFamily="18" charset="0"/>
                <a:cs typeface="Times New Roman" pitchFamily="18" charset="0"/>
              </a:rPr>
              <a:t>Who developed mobile phones?</a:t>
            </a:r>
            <a:br>
              <a:rPr lang="en-US" b="1" dirty="0">
                <a:solidFill>
                  <a:srgbClr val="00B050"/>
                </a:solidFill>
                <a:latin typeface="Times New Roman" pitchFamily="18" charset="0"/>
                <a:cs typeface="Times New Roman" pitchFamily="18" charset="0"/>
              </a:rPr>
            </a:br>
            <a:endParaRPr lang="en-IN" dirty="0">
              <a:solidFill>
                <a:srgbClr val="00B05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783357"/>
            <a:ext cx="8229600" cy="4525963"/>
          </a:xfrm>
        </p:spPr>
        <p:txBody>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Dr. Martin Cooper</a:t>
            </a:r>
            <a:r>
              <a:rPr lang="en-US" dirty="0">
                <a:latin typeface="Times New Roman" panose="02020603050405020304" pitchFamily="18" charset="0"/>
                <a:cs typeface="Times New Roman" panose="02020603050405020304" pitchFamily="18" charset="0"/>
              </a:rPr>
              <a:t> (Motorola engineer) made the </a:t>
            </a:r>
            <a:r>
              <a:rPr lang="en-US" b="1" dirty="0">
                <a:latin typeface="Times New Roman" panose="02020603050405020304" pitchFamily="18" charset="0"/>
                <a:cs typeface="Times New Roman" panose="02020603050405020304" pitchFamily="18" charset="0"/>
              </a:rPr>
              <a:t>first handheld mobile phone</a:t>
            </a:r>
            <a:r>
              <a:rPr lang="en-US" dirty="0">
                <a:latin typeface="Times New Roman" panose="02020603050405020304" pitchFamily="18" charset="0"/>
                <a:cs typeface="Times New Roman" panose="02020603050405020304" pitchFamily="18" charset="0"/>
              </a:rPr>
              <a:t> in </a:t>
            </a:r>
            <a:r>
              <a:rPr lang="en-US" b="1" dirty="0">
                <a:latin typeface="Times New Roman" panose="02020603050405020304" pitchFamily="18" charset="0"/>
                <a:cs typeface="Times New Roman" panose="02020603050405020304" pitchFamily="18" charset="0"/>
              </a:rPr>
              <a:t>1973</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He is called the </a:t>
            </a:r>
            <a:r>
              <a:rPr lang="en-US" i="1" dirty="0">
                <a:latin typeface="Times New Roman" panose="02020603050405020304" pitchFamily="18" charset="0"/>
                <a:cs typeface="Times New Roman" panose="02020603050405020304" pitchFamily="18" charset="0"/>
              </a:rPr>
              <a:t>“Father of the mobile phone.”</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His first call was made on a Motorola </a:t>
            </a:r>
            <a:r>
              <a:rPr lang="en-US" dirty="0" err="1">
                <a:latin typeface="Times New Roman" panose="02020603050405020304" pitchFamily="18" charset="0"/>
                <a:cs typeface="Times New Roman" panose="02020603050405020304" pitchFamily="18" charset="0"/>
              </a:rPr>
              <a:t>DynaTAC</a:t>
            </a:r>
            <a:r>
              <a:rPr lang="en-US" dirty="0">
                <a:latin typeface="Times New Roman" panose="02020603050405020304" pitchFamily="18" charset="0"/>
                <a:cs typeface="Times New Roman" panose="02020603050405020304" pitchFamily="18" charset="0"/>
              </a:rPr>
              <a:t> (it was very big and heavy).</a:t>
            </a:r>
          </a:p>
          <a:p>
            <a:pPr marL="457200" lvl="1" indent="0">
              <a:buNone/>
            </a:pPr>
            <a:endParaRPr lang="en-US" dirty="0"/>
          </a:p>
          <a:p>
            <a:endParaRPr lang="en-IN" dirty="0"/>
          </a:p>
        </p:txBody>
      </p:sp>
    </p:spTree>
    <p:extLst>
      <p:ext uri="{BB962C8B-B14F-4D97-AF65-F5344CB8AC3E}">
        <p14:creationId xmlns:p14="http://schemas.microsoft.com/office/powerpoint/2010/main" val="2018897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3"/>
          </a:lnRef>
          <a:fillRef idx="1">
            <a:schemeClr val="lt1"/>
          </a:fillRef>
          <a:effectRef idx="0">
            <a:schemeClr val="accent3"/>
          </a:effectRef>
          <a:fontRef idx="minor">
            <a:schemeClr val="dk1"/>
          </a:fontRef>
        </p:style>
        <p:txBody>
          <a:bodyPr/>
          <a:lstStyle/>
          <a:p>
            <a:r>
              <a:rPr lang="en-US" b="1" dirty="0">
                <a:solidFill>
                  <a:srgbClr val="00B050"/>
                </a:solidFill>
                <a:latin typeface="Times New Roman" pitchFamily="18" charset="0"/>
                <a:cs typeface="Times New Roman" pitchFamily="18" charset="0"/>
              </a:rPr>
              <a:t>Where did the idea come from?</a:t>
            </a:r>
            <a:endParaRPr lang="en-IN" b="1" dirty="0">
              <a:solidFill>
                <a:srgbClr val="00B05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r>
              <a:rPr lang="en-US" dirty="0">
                <a:latin typeface="Times New Roman" pitchFamily="18" charset="0"/>
                <a:cs typeface="Times New Roman" pitchFamily="18" charset="0"/>
              </a:rPr>
              <a:t>The idea came from radio communication in the early 1900s. Ships, police, and the military were already using big wireless radios. </a:t>
            </a:r>
          </a:p>
          <a:p>
            <a:r>
              <a:rPr lang="en-US" dirty="0">
                <a:latin typeface="Times New Roman" pitchFamily="18" charset="0"/>
                <a:cs typeface="Times New Roman" pitchFamily="18" charset="0"/>
              </a:rPr>
              <a:t>People wanted a personal wireless phone to talk without being tied to wires. </a:t>
            </a:r>
          </a:p>
          <a:p>
            <a:r>
              <a:rPr lang="en-US" dirty="0">
                <a:latin typeface="Times New Roman" pitchFamily="18" charset="0"/>
                <a:cs typeface="Times New Roman" pitchFamily="18" charset="0"/>
              </a:rPr>
              <a:t>Scientists thought: </a:t>
            </a:r>
            <a:r>
              <a:rPr lang="en-US" b="1" dirty="0">
                <a:solidFill>
                  <a:srgbClr val="00B050"/>
                </a:solidFill>
                <a:latin typeface="Times New Roman" pitchFamily="18" charset="0"/>
                <a:cs typeface="Times New Roman" pitchFamily="18" charset="0"/>
              </a:rPr>
              <a:t>If we divide areas into small zones (cells) with antennas, we can reuse frequencies and allow many people to talk at the same time.</a:t>
            </a:r>
          </a:p>
          <a:p>
            <a:r>
              <a:rPr lang="en-US" dirty="0">
                <a:latin typeface="Times New Roman" pitchFamily="18" charset="0"/>
                <a:cs typeface="Times New Roman" pitchFamily="18" charset="0"/>
              </a:rPr>
              <a:t>This is called the cellular concept (invented by engineers at Bell Labs in 1947).</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414741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style>
          <a:lnRef idx="2">
            <a:schemeClr val="accent3"/>
          </a:lnRef>
          <a:fillRef idx="1">
            <a:schemeClr val="lt1"/>
          </a:fillRef>
          <a:effectRef idx="0">
            <a:schemeClr val="accent3"/>
          </a:effectRef>
          <a:fontRef idx="minor">
            <a:schemeClr val="dk1"/>
          </a:fontRef>
        </p:style>
        <p:txBody>
          <a:bodyPr/>
          <a:lstStyle/>
          <a:p>
            <a:r>
              <a:rPr lang="en-US" b="1" dirty="0">
                <a:latin typeface="Times New Roman" pitchFamily="18" charset="0"/>
                <a:cs typeface="Times New Roman" pitchFamily="18" charset="0"/>
              </a:rPr>
              <a:t>Example</a:t>
            </a:r>
            <a:endParaRPr lang="en-IN" dirty="0">
              <a:latin typeface="Times New Roman" pitchFamily="18" charset="0"/>
              <a:cs typeface="Times New Roman" pitchFamily="18" charset="0"/>
            </a:endParaRPr>
          </a:p>
        </p:txBody>
      </p:sp>
      <p:sp>
        <p:nvSpPr>
          <p:cNvPr id="3" name="Content Placeholder 2"/>
          <p:cNvSpPr>
            <a:spLocks noGrp="1"/>
          </p:cNvSpPr>
          <p:nvPr>
            <p:ph idx="1"/>
          </p:nvPr>
        </p:nvSpPr>
        <p:spPr>
          <a:xfrm>
            <a:off x="457200" y="1412776"/>
            <a:ext cx="8229600" cy="4713387"/>
          </a:xfrm>
        </p:spPr>
        <p:txBody>
          <a:bodyPr>
            <a:normAutofit fontScale="77500" lnSpcReduction="20000"/>
          </a:bodyPr>
          <a:lstStyle/>
          <a:p>
            <a:r>
              <a:rPr lang="en-US" dirty="0">
                <a:latin typeface="Times New Roman" pitchFamily="18" charset="0"/>
                <a:cs typeface="Times New Roman" pitchFamily="18" charset="0"/>
              </a:rPr>
              <a:t>Imagine you are in a </a:t>
            </a:r>
            <a:r>
              <a:rPr lang="en-US" b="1" dirty="0">
                <a:latin typeface="Times New Roman" pitchFamily="18" charset="0"/>
                <a:cs typeface="Times New Roman" pitchFamily="18" charset="0"/>
              </a:rPr>
              <a:t>city traveling in a car</a:t>
            </a:r>
            <a:r>
              <a:rPr lang="en-US" dirty="0">
                <a:latin typeface="Times New Roman" pitchFamily="18" charset="0"/>
                <a:cs typeface="Times New Roman" pitchFamily="18" charset="0"/>
              </a:rPr>
              <a:t> and talking on your mobile phone.</a:t>
            </a:r>
          </a:p>
          <a:p>
            <a:r>
              <a:rPr lang="en-US" dirty="0">
                <a:latin typeface="Times New Roman" pitchFamily="18" charset="0"/>
                <a:cs typeface="Times New Roman" pitchFamily="18" charset="0"/>
              </a:rPr>
              <a:t>When you start, your phone connects to the </a:t>
            </a:r>
            <a:r>
              <a:rPr lang="en-US" b="1" dirty="0">
                <a:latin typeface="Times New Roman" pitchFamily="18" charset="0"/>
                <a:cs typeface="Times New Roman" pitchFamily="18" charset="0"/>
              </a:rPr>
              <a:t>nearest tower (cell)</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As your car moves, the signal </a:t>
            </a:r>
            <a:r>
              <a:rPr lang="en-US" b="1" dirty="0">
                <a:latin typeface="Times New Roman" pitchFamily="18" charset="0"/>
                <a:cs typeface="Times New Roman" pitchFamily="18" charset="0"/>
              </a:rPr>
              <a:t>shifts smoothly</a:t>
            </a:r>
            <a:r>
              <a:rPr lang="en-US" dirty="0">
                <a:latin typeface="Times New Roman" pitchFamily="18" charset="0"/>
                <a:cs typeface="Times New Roman" pitchFamily="18" charset="0"/>
              </a:rPr>
              <a:t> from one tower to the next (handover).</a:t>
            </a:r>
          </a:p>
          <a:p>
            <a:r>
              <a:rPr lang="en-US" dirty="0">
                <a:latin typeface="Times New Roman" pitchFamily="18" charset="0"/>
                <a:cs typeface="Times New Roman" pitchFamily="18" charset="0"/>
              </a:rPr>
              <a:t>You don’t notice the change, your call continues without breaking.</a:t>
            </a:r>
          </a:p>
          <a:p>
            <a:r>
              <a:rPr lang="en-US" dirty="0">
                <a:latin typeface="Times New Roman" pitchFamily="18" charset="0"/>
                <a:cs typeface="Times New Roman" pitchFamily="18" charset="0"/>
              </a:rPr>
              <a:t>This works because the city is divided into </a:t>
            </a:r>
            <a:r>
              <a:rPr lang="en-US" b="1" dirty="0">
                <a:latin typeface="Times New Roman" pitchFamily="18" charset="0"/>
                <a:cs typeface="Times New Roman" pitchFamily="18" charset="0"/>
              </a:rPr>
              <a:t>cells with antennas</a:t>
            </a:r>
            <a:r>
              <a:rPr lang="en-US" dirty="0">
                <a:latin typeface="Times New Roman" pitchFamily="18" charset="0"/>
                <a:cs typeface="Times New Roman" pitchFamily="18" charset="0"/>
              </a:rPr>
              <a:t>, just like small zones.</a:t>
            </a:r>
          </a:p>
          <a:p>
            <a:r>
              <a:rPr lang="en-US" dirty="0">
                <a:latin typeface="Times New Roman" pitchFamily="18" charset="0"/>
                <a:cs typeface="Times New Roman" pitchFamily="18" charset="0"/>
              </a:rPr>
              <a:t>Without this </a:t>
            </a:r>
            <a:r>
              <a:rPr lang="en-US" b="1" dirty="0">
                <a:latin typeface="Times New Roman" pitchFamily="18" charset="0"/>
                <a:cs typeface="Times New Roman" pitchFamily="18" charset="0"/>
              </a:rPr>
              <a:t>cellular idea</a:t>
            </a:r>
            <a:r>
              <a:rPr lang="en-US" dirty="0">
                <a:latin typeface="Times New Roman" pitchFamily="18" charset="0"/>
                <a:cs typeface="Times New Roman" pitchFamily="18" charset="0"/>
              </a:rPr>
              <a:t>, only a few people could talk at once. But with cells, </a:t>
            </a:r>
            <a:r>
              <a:rPr lang="en-US" b="1" dirty="0">
                <a:latin typeface="Times New Roman" pitchFamily="18" charset="0"/>
                <a:cs typeface="Times New Roman" pitchFamily="18" charset="0"/>
              </a:rPr>
              <a:t>millions of people</a:t>
            </a:r>
            <a:r>
              <a:rPr lang="en-US" dirty="0">
                <a:latin typeface="Times New Roman" pitchFamily="18" charset="0"/>
                <a:cs typeface="Times New Roman" pitchFamily="18" charset="0"/>
              </a:rPr>
              <a:t> in one city can use mobiles at the same time.</a:t>
            </a:r>
          </a:p>
        </p:txBody>
      </p:sp>
    </p:spTree>
    <p:extLst>
      <p:ext uri="{BB962C8B-B14F-4D97-AF65-F5344CB8AC3E}">
        <p14:creationId xmlns:p14="http://schemas.microsoft.com/office/powerpoint/2010/main" val="1571034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2">
            <a:schemeClr val="accent5"/>
          </a:lnRef>
          <a:fillRef idx="1">
            <a:schemeClr val="lt1"/>
          </a:fillRef>
          <a:effectRef idx="0">
            <a:schemeClr val="accent5"/>
          </a:effectRef>
          <a:fontRef idx="minor">
            <a:schemeClr val="dk1"/>
          </a:fontRef>
        </p:style>
        <p:txBody>
          <a:bodyPr>
            <a:normAutofit fontScale="90000"/>
          </a:bodyPr>
          <a:lstStyle/>
          <a:p>
            <a:r>
              <a:rPr lang="en-IN" b="1" dirty="0">
                <a:solidFill>
                  <a:srgbClr val="0070C0"/>
                </a:solidFill>
                <a:latin typeface="Times New Roman" panose="02020603050405020304" pitchFamily="18" charset="0"/>
                <a:cs typeface="Times New Roman" panose="02020603050405020304" pitchFamily="18" charset="0"/>
              </a:rPr>
              <a:t>Advanced Mobile Communication</a:t>
            </a:r>
            <a:endParaRPr lang="en-IN" dirty="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r>
              <a:rPr lang="en-US" dirty="0">
                <a:latin typeface="Times New Roman" pitchFamily="18" charset="0"/>
                <a:cs typeface="Times New Roman" pitchFamily="18" charset="0"/>
              </a:rPr>
              <a:t>It means the </a:t>
            </a:r>
            <a:r>
              <a:rPr lang="en-US" b="1" dirty="0">
                <a:latin typeface="Times New Roman" pitchFamily="18" charset="0"/>
                <a:cs typeface="Times New Roman" pitchFamily="18" charset="0"/>
              </a:rPr>
              <a:t>latest and improved ways</a:t>
            </a:r>
            <a:r>
              <a:rPr lang="en-US" dirty="0">
                <a:latin typeface="Times New Roman" pitchFamily="18" charset="0"/>
                <a:cs typeface="Times New Roman" pitchFamily="18" charset="0"/>
              </a:rPr>
              <a:t> of sending voice, text, images, and data through mobile phones using </a:t>
            </a:r>
            <a:r>
              <a:rPr lang="en-US" b="1" dirty="0">
                <a:latin typeface="Times New Roman" pitchFamily="18" charset="0"/>
                <a:cs typeface="Times New Roman" pitchFamily="18" charset="0"/>
              </a:rPr>
              <a:t>modern wireless technologies</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Unlike old systems (just for calls), advanced mobile communication gives us:</a:t>
            </a:r>
          </a:p>
          <a:p>
            <a:r>
              <a:rPr lang="en-US" b="1" dirty="0">
                <a:latin typeface="Times New Roman" pitchFamily="18" charset="0"/>
                <a:cs typeface="Times New Roman" pitchFamily="18" charset="0"/>
              </a:rPr>
              <a:t>Fast internet</a:t>
            </a:r>
            <a:r>
              <a:rPr lang="en-US" dirty="0">
                <a:latin typeface="Times New Roman" pitchFamily="18" charset="0"/>
                <a:cs typeface="Times New Roman" pitchFamily="18" charset="0"/>
              </a:rPr>
              <a:t> (4G, 5G)</a:t>
            </a:r>
          </a:p>
          <a:p>
            <a:r>
              <a:rPr lang="en-US" b="1" dirty="0">
                <a:latin typeface="Times New Roman" pitchFamily="18" charset="0"/>
                <a:cs typeface="Times New Roman" pitchFamily="18" charset="0"/>
              </a:rPr>
              <a:t>Video calls &amp; streaming</a:t>
            </a:r>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Online gaming &amp; apps</a:t>
            </a:r>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Smart devices connection</a:t>
            </a:r>
            <a:r>
              <a:rPr lang="en-US" dirty="0">
                <a:latin typeface="Times New Roman" pitchFamily="18" charset="0"/>
                <a:cs typeface="Times New Roman" pitchFamily="18" charset="0"/>
              </a:rPr>
              <a:t> (IoT - smart cars, smart homes, smart healthcare)</a:t>
            </a:r>
          </a:p>
          <a:p>
            <a:r>
              <a:rPr lang="en-US" b="1" dirty="0">
                <a:latin typeface="Times New Roman" pitchFamily="18" charset="0"/>
                <a:cs typeface="Times New Roman" pitchFamily="18" charset="0"/>
              </a:rPr>
              <a:t>Low delay (latency)</a:t>
            </a:r>
            <a:r>
              <a:rPr lang="en-US" dirty="0">
                <a:latin typeface="Times New Roman" pitchFamily="18" charset="0"/>
                <a:cs typeface="Times New Roman" pitchFamily="18" charset="0"/>
              </a:rPr>
              <a:t> so actions happen instantly</a:t>
            </a:r>
          </a:p>
        </p:txBody>
      </p:sp>
    </p:spTree>
    <p:extLst>
      <p:ext uri="{BB962C8B-B14F-4D97-AF65-F5344CB8AC3E}">
        <p14:creationId xmlns:p14="http://schemas.microsoft.com/office/powerpoint/2010/main" val="215221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6264696"/>
          </a:xfrm>
        </p:spPr>
        <p:txBody>
          <a:bodyPr>
            <a:normAutofit fontScale="77500" lnSpcReduction="20000"/>
          </a:bodyPr>
          <a:lstStyle/>
          <a:p>
            <a:pPr marL="0" indent="0">
              <a:buNone/>
            </a:pPr>
            <a:r>
              <a:rPr lang="en-US" b="1" dirty="0">
                <a:solidFill>
                  <a:srgbClr val="7030A0"/>
                </a:solidFill>
                <a:highlight>
                  <a:srgbClr val="FFFF00"/>
                </a:highlight>
                <a:latin typeface="Times New Roman" pitchFamily="18" charset="0"/>
                <a:cs typeface="Times New Roman" pitchFamily="18" charset="0"/>
              </a:rPr>
              <a:t>Wireless Communication</a:t>
            </a:r>
          </a:p>
          <a:p>
            <a:r>
              <a:rPr lang="en-US" dirty="0">
                <a:latin typeface="Times New Roman" pitchFamily="18" charset="0"/>
                <a:cs typeface="Times New Roman" pitchFamily="18" charset="0"/>
              </a:rPr>
              <a:t>It means sending information </a:t>
            </a:r>
            <a:r>
              <a:rPr lang="en-US" b="1" dirty="0">
                <a:latin typeface="Times New Roman" pitchFamily="18" charset="0"/>
                <a:cs typeface="Times New Roman" pitchFamily="18" charset="0"/>
              </a:rPr>
              <a:t>without wires</a:t>
            </a:r>
            <a:r>
              <a:rPr lang="en-US" dirty="0">
                <a:latin typeface="Times New Roman" pitchFamily="18" charset="0"/>
                <a:cs typeface="Times New Roman" pitchFamily="18" charset="0"/>
              </a:rPr>
              <a:t>, using signals like </a:t>
            </a:r>
            <a:r>
              <a:rPr lang="en-US" b="1" dirty="0">
                <a:latin typeface="Times New Roman" pitchFamily="18" charset="0"/>
                <a:cs typeface="Times New Roman" pitchFamily="18" charset="0"/>
              </a:rPr>
              <a:t>radio waves, Wi-Fi, Bluetooth, or infrared</a:t>
            </a:r>
            <a:r>
              <a:rPr lang="en-US" dirty="0">
                <a:latin typeface="Times New Roman" pitchFamily="18" charset="0"/>
                <a:cs typeface="Times New Roman" pitchFamily="18" charset="0"/>
              </a:rPr>
              <a:t>.</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US" dirty="0">
                <a:solidFill>
                  <a:srgbClr val="FF0000"/>
                </a:solidFill>
                <a:latin typeface="Times New Roman" pitchFamily="18" charset="0"/>
                <a:cs typeface="Times New Roman" pitchFamily="18" charset="0"/>
              </a:rPr>
              <a:t>Example:</a:t>
            </a:r>
            <a:r>
              <a:rPr lang="en-US" dirty="0">
                <a:latin typeface="Times New Roman" pitchFamily="18" charset="0"/>
                <a:cs typeface="Times New Roman" pitchFamily="18" charset="0"/>
              </a:rPr>
              <a:t> Using </a:t>
            </a:r>
            <a:r>
              <a:rPr lang="en-US" b="1" dirty="0">
                <a:latin typeface="Times New Roman" pitchFamily="18" charset="0"/>
                <a:cs typeface="Times New Roman" pitchFamily="18" charset="0"/>
              </a:rPr>
              <a:t>mobile phones</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Wi-Fi internet</a:t>
            </a:r>
            <a:r>
              <a:rPr lang="en-US" dirty="0">
                <a:latin typeface="Times New Roman" pitchFamily="18" charset="0"/>
                <a:cs typeface="Times New Roman" pitchFamily="18" charset="0"/>
              </a:rPr>
              <a:t>, or </a:t>
            </a:r>
            <a:r>
              <a:rPr lang="en-US" b="1" dirty="0">
                <a:latin typeface="Times New Roman" pitchFamily="18" charset="0"/>
                <a:cs typeface="Times New Roman" pitchFamily="18" charset="0"/>
              </a:rPr>
              <a:t>Bluetooth headphones</a:t>
            </a:r>
            <a:r>
              <a:rPr lang="en-US" dirty="0">
                <a:latin typeface="Times New Roman" pitchFamily="18" charset="0"/>
                <a:cs typeface="Times New Roman" pitchFamily="18" charset="0"/>
              </a:rPr>
              <a:t>.</a:t>
            </a:r>
          </a:p>
          <a:p>
            <a:pPr marL="0" indent="0">
              <a:buNone/>
            </a:pPr>
            <a:r>
              <a:rPr lang="en-US" b="1" dirty="0">
                <a:latin typeface="Times New Roman" pitchFamily="18" charset="0"/>
                <a:cs typeface="Times New Roman" pitchFamily="18" charset="0"/>
              </a:rPr>
              <a:t>Diversity (in Wireless Communication)</a:t>
            </a:r>
          </a:p>
          <a:p>
            <a:r>
              <a:rPr lang="en-US" dirty="0">
                <a:latin typeface="Times New Roman" pitchFamily="18" charset="0"/>
                <a:cs typeface="Times New Roman" pitchFamily="18" charset="0"/>
              </a:rPr>
              <a:t>“Diversity” means using </a:t>
            </a:r>
            <a:r>
              <a:rPr lang="en-US" b="1" dirty="0">
                <a:latin typeface="Times New Roman" pitchFamily="18" charset="0"/>
                <a:cs typeface="Times New Roman" pitchFamily="18" charset="0"/>
              </a:rPr>
              <a:t>more than one path or method</a:t>
            </a:r>
            <a:r>
              <a:rPr lang="en-US" dirty="0">
                <a:latin typeface="Times New Roman" pitchFamily="18" charset="0"/>
                <a:cs typeface="Times New Roman" pitchFamily="18" charset="0"/>
              </a:rPr>
              <a:t> to send/receive signals, so the connection stays strong, even if one path is weak.</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US" dirty="0">
                <a:solidFill>
                  <a:srgbClr val="FF0000"/>
                </a:solidFill>
                <a:latin typeface="Times New Roman" pitchFamily="18" charset="0"/>
                <a:cs typeface="Times New Roman" pitchFamily="18" charset="0"/>
              </a:rPr>
              <a:t>Example:</a:t>
            </a:r>
          </a:p>
          <a:p>
            <a:r>
              <a:rPr lang="en-US" dirty="0">
                <a:latin typeface="Times New Roman" pitchFamily="18" charset="0"/>
                <a:cs typeface="Times New Roman" pitchFamily="18" charset="0"/>
              </a:rPr>
              <a:t>Your phone may use </a:t>
            </a:r>
            <a:r>
              <a:rPr lang="en-US" b="1" dirty="0">
                <a:latin typeface="Times New Roman" pitchFamily="18" charset="0"/>
                <a:cs typeface="Times New Roman" pitchFamily="18" charset="0"/>
              </a:rPr>
              <a:t>two antennas</a:t>
            </a:r>
            <a:r>
              <a:rPr lang="en-US" dirty="0">
                <a:latin typeface="Times New Roman" pitchFamily="18" charset="0"/>
                <a:cs typeface="Times New Roman" pitchFamily="18" charset="0"/>
              </a:rPr>
              <a:t>. If one antenna’s signal is weak, the other gives a better signal.</a:t>
            </a:r>
          </a:p>
          <a:p>
            <a:r>
              <a:rPr lang="en-US" dirty="0">
                <a:latin typeface="Times New Roman" pitchFamily="18" charset="0"/>
                <a:cs typeface="Times New Roman" pitchFamily="18" charset="0"/>
              </a:rPr>
              <a:t>In </a:t>
            </a:r>
            <a:r>
              <a:rPr lang="en-US" b="1" dirty="0">
                <a:latin typeface="Times New Roman" pitchFamily="18" charset="0"/>
                <a:cs typeface="Times New Roman" pitchFamily="18" charset="0"/>
              </a:rPr>
              <a:t>Wi-Fi</a:t>
            </a:r>
            <a:r>
              <a:rPr lang="en-US" dirty="0">
                <a:latin typeface="Times New Roman" pitchFamily="18" charset="0"/>
                <a:cs typeface="Times New Roman" pitchFamily="18" charset="0"/>
              </a:rPr>
              <a:t>, your device may pick the strongest signal from different routes.</a:t>
            </a:r>
          </a:p>
          <a:p>
            <a:r>
              <a:rPr lang="en-US" b="1" dirty="0">
                <a:latin typeface="Times New Roman" pitchFamily="18" charset="0"/>
                <a:cs typeface="Times New Roman" pitchFamily="18" charset="0"/>
              </a:rPr>
              <a:t>In short:</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Wireless = communication without wires.</a:t>
            </a:r>
          </a:p>
          <a:p>
            <a:r>
              <a:rPr lang="en-US" dirty="0">
                <a:latin typeface="Times New Roman" pitchFamily="18" charset="0"/>
                <a:cs typeface="Times New Roman" pitchFamily="18" charset="0"/>
              </a:rPr>
              <a:t>Diversity = using multiple signals/paths to avoid call drops or poor internet.</a:t>
            </a:r>
          </a:p>
          <a:p>
            <a:endParaRPr lang="en-IN" dirty="0"/>
          </a:p>
        </p:txBody>
      </p:sp>
    </p:spTree>
    <p:extLst>
      <p:ext uri="{BB962C8B-B14F-4D97-AF65-F5344CB8AC3E}">
        <p14:creationId xmlns:p14="http://schemas.microsoft.com/office/powerpoint/2010/main" val="1247676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70000" lnSpcReduction="20000"/>
          </a:bodyPr>
          <a:lstStyle/>
          <a:p>
            <a:pPr marL="0" indent="0">
              <a:buNone/>
            </a:pPr>
            <a:r>
              <a:rPr lang="en-US" b="1" dirty="0">
                <a:solidFill>
                  <a:srgbClr val="0070C0"/>
                </a:solidFill>
                <a:latin typeface="Times New Roman" pitchFamily="18" charset="0"/>
                <a:cs typeface="Times New Roman" pitchFamily="18" charset="0"/>
              </a:rPr>
              <a:t>How Diversity Works in Wireless Communication</a:t>
            </a:r>
          </a:p>
          <a:p>
            <a:r>
              <a:rPr lang="en-US" dirty="0">
                <a:latin typeface="Times New Roman" pitchFamily="18" charset="0"/>
                <a:cs typeface="Times New Roman" pitchFamily="18" charset="0"/>
              </a:rPr>
              <a:t>When a signal travels in the air, it can become </a:t>
            </a:r>
            <a:r>
              <a:rPr lang="en-US" b="1" dirty="0">
                <a:latin typeface="Times New Roman" pitchFamily="18" charset="0"/>
                <a:cs typeface="Times New Roman" pitchFamily="18" charset="0"/>
              </a:rPr>
              <a:t>weak</a:t>
            </a:r>
            <a:r>
              <a:rPr lang="en-US" dirty="0">
                <a:latin typeface="Times New Roman" pitchFamily="18" charset="0"/>
                <a:cs typeface="Times New Roman" pitchFamily="18" charset="0"/>
              </a:rPr>
              <a:t> because of obstacles (like buildings, walls, rain, etc.).</a:t>
            </a:r>
          </a:p>
          <a:p>
            <a:r>
              <a:rPr lang="en-US" dirty="0">
                <a:latin typeface="Times New Roman" pitchFamily="18" charset="0"/>
                <a:cs typeface="Times New Roman" pitchFamily="18" charset="0"/>
              </a:rPr>
              <a:t>To avoid poor quality, </a:t>
            </a:r>
            <a:r>
              <a:rPr lang="en-US" b="1" dirty="0">
                <a:latin typeface="Times New Roman" pitchFamily="18" charset="0"/>
                <a:cs typeface="Times New Roman" pitchFamily="18" charset="0"/>
              </a:rPr>
              <a:t>diversity uses multiple versions of the same signal</a:t>
            </a:r>
            <a:r>
              <a:rPr lang="en-US" dirty="0">
                <a:latin typeface="Times New Roman" pitchFamily="18" charset="0"/>
                <a:cs typeface="Times New Roman" pitchFamily="18" charset="0"/>
              </a:rPr>
              <a:t> (different paths, antennas, or frequencies).</a:t>
            </a:r>
          </a:p>
          <a:p>
            <a:r>
              <a:rPr lang="en-US" dirty="0">
                <a:latin typeface="Times New Roman" pitchFamily="18" charset="0"/>
                <a:cs typeface="Times New Roman" pitchFamily="18" charset="0"/>
              </a:rPr>
              <a:t>The receiver (like your phone) then </a:t>
            </a:r>
            <a:r>
              <a:rPr lang="en-US" b="1" dirty="0">
                <a:latin typeface="Times New Roman" pitchFamily="18" charset="0"/>
                <a:cs typeface="Times New Roman" pitchFamily="18" charset="0"/>
              </a:rPr>
              <a:t>chooses the best signal</a:t>
            </a:r>
            <a:r>
              <a:rPr lang="en-US" dirty="0">
                <a:latin typeface="Times New Roman" pitchFamily="18" charset="0"/>
                <a:cs typeface="Times New Roman" pitchFamily="18" charset="0"/>
              </a:rPr>
              <a:t> or </a:t>
            </a:r>
            <a:r>
              <a:rPr lang="en-US" b="1" dirty="0">
                <a:latin typeface="Times New Roman" pitchFamily="18" charset="0"/>
                <a:cs typeface="Times New Roman" pitchFamily="18" charset="0"/>
              </a:rPr>
              <a:t>combines them</a:t>
            </a:r>
            <a:r>
              <a:rPr lang="en-US" dirty="0">
                <a:latin typeface="Times New Roman" pitchFamily="18" charset="0"/>
                <a:cs typeface="Times New Roman" pitchFamily="18" charset="0"/>
              </a:rPr>
              <a:t> for better quality.</a:t>
            </a:r>
          </a:p>
          <a:p>
            <a:pPr marL="0" indent="0">
              <a:buNone/>
            </a:pPr>
            <a:endParaRPr lang="en-US" dirty="0">
              <a:latin typeface="Times New Roman" pitchFamily="18" charset="0"/>
              <a:cs typeface="Times New Roman" pitchFamily="18" charset="0"/>
            </a:endParaRPr>
          </a:p>
          <a:p>
            <a:pPr marL="0" indent="0">
              <a:buNone/>
            </a:pPr>
            <a:r>
              <a:rPr lang="en-US" b="1" dirty="0">
                <a:solidFill>
                  <a:srgbClr val="FF0000"/>
                </a:solidFill>
                <a:latin typeface="Times New Roman" pitchFamily="18" charset="0"/>
                <a:cs typeface="Times New Roman" pitchFamily="18" charset="0"/>
              </a:rPr>
              <a:t>Real-Life Example</a:t>
            </a:r>
          </a:p>
          <a:p>
            <a:r>
              <a:rPr lang="en-US" dirty="0">
                <a:latin typeface="Times New Roman" pitchFamily="18" charset="0"/>
                <a:cs typeface="Times New Roman" pitchFamily="18" charset="0"/>
              </a:rPr>
              <a:t>You’re in a train using mobile internet.</a:t>
            </a:r>
          </a:p>
          <a:p>
            <a:r>
              <a:rPr lang="en-US" dirty="0">
                <a:latin typeface="Times New Roman" pitchFamily="18" charset="0"/>
                <a:cs typeface="Times New Roman" pitchFamily="18" charset="0"/>
              </a:rPr>
              <a:t>Your phone has </a:t>
            </a:r>
            <a:r>
              <a:rPr lang="en-US" b="1" dirty="0">
                <a:latin typeface="Times New Roman" pitchFamily="18" charset="0"/>
                <a:cs typeface="Times New Roman" pitchFamily="18" charset="0"/>
              </a:rPr>
              <a:t>two antennas</a:t>
            </a:r>
            <a:r>
              <a:rPr lang="en-US" dirty="0">
                <a:latin typeface="Times New Roman" pitchFamily="18" charset="0"/>
                <a:cs typeface="Times New Roman" pitchFamily="18" charset="0"/>
              </a:rPr>
              <a:t> (this is called antenna diversity).</a:t>
            </a:r>
          </a:p>
          <a:p>
            <a:r>
              <a:rPr lang="en-US" dirty="0">
                <a:latin typeface="Times New Roman" pitchFamily="18" charset="0"/>
                <a:cs typeface="Times New Roman" pitchFamily="18" charset="0"/>
              </a:rPr>
              <a:t>If one antenna gets a weak signal because a building blocks it, the </a:t>
            </a:r>
            <a:r>
              <a:rPr lang="en-US" b="1" dirty="0">
                <a:latin typeface="Times New Roman" pitchFamily="18" charset="0"/>
                <a:cs typeface="Times New Roman" pitchFamily="18" charset="0"/>
              </a:rPr>
              <a:t>other antenna</a:t>
            </a:r>
            <a:r>
              <a:rPr lang="en-US" dirty="0">
                <a:latin typeface="Times New Roman" pitchFamily="18" charset="0"/>
                <a:cs typeface="Times New Roman" pitchFamily="18" charset="0"/>
              </a:rPr>
              <a:t> might still catch a strong signal.</a:t>
            </a:r>
          </a:p>
          <a:p>
            <a:r>
              <a:rPr lang="en-US" dirty="0">
                <a:latin typeface="Times New Roman" pitchFamily="18" charset="0"/>
                <a:cs typeface="Times New Roman" pitchFamily="18" charset="0"/>
              </a:rPr>
              <a:t>Your phone automatically </a:t>
            </a:r>
            <a:r>
              <a:rPr lang="en-US" b="1" dirty="0">
                <a:latin typeface="Times New Roman" pitchFamily="18" charset="0"/>
                <a:cs typeface="Times New Roman" pitchFamily="18" charset="0"/>
              </a:rPr>
              <a:t>switches or combines</a:t>
            </a:r>
            <a:r>
              <a:rPr lang="en-US" dirty="0">
                <a:latin typeface="Times New Roman" pitchFamily="18" charset="0"/>
                <a:cs typeface="Times New Roman" pitchFamily="18" charset="0"/>
              </a:rPr>
              <a:t> them → so your call or video keeps working smoothly.</a:t>
            </a:r>
          </a:p>
          <a:p>
            <a:pPr marL="0" indent="0">
              <a:buNone/>
            </a:pPr>
            <a:r>
              <a:rPr lang="en-US" dirty="0">
                <a:latin typeface="Times New Roman" pitchFamily="18" charset="0"/>
                <a:cs typeface="Times New Roman" pitchFamily="18" charset="0"/>
              </a:rPr>
              <a:t>In short:</a:t>
            </a:r>
            <a:br>
              <a:rPr lang="en-US" dirty="0">
                <a:latin typeface="Times New Roman" pitchFamily="18" charset="0"/>
                <a:cs typeface="Times New Roman" pitchFamily="18" charset="0"/>
              </a:rPr>
            </a:br>
            <a:r>
              <a:rPr lang="en-US" b="1" dirty="0">
                <a:latin typeface="Times New Roman" pitchFamily="18" charset="0"/>
                <a:cs typeface="Times New Roman" pitchFamily="18" charset="0"/>
              </a:rPr>
              <a:t>Diversity = backup paths for signals.</a:t>
            </a:r>
            <a:r>
              <a:rPr lang="en-US" dirty="0">
                <a:latin typeface="Times New Roman" pitchFamily="18" charset="0"/>
                <a:cs typeface="Times New Roman" pitchFamily="18" charset="0"/>
              </a:rPr>
              <a:t> If one is bad, another is used → so communication stays strong and clear.</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619297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46050"/>
          </a:xfrm>
        </p:spPr>
        <p:style>
          <a:lnRef idx="2">
            <a:schemeClr val="accent3"/>
          </a:lnRef>
          <a:fillRef idx="1">
            <a:schemeClr val="lt1"/>
          </a:fillRef>
          <a:effectRef idx="0">
            <a:schemeClr val="accent3"/>
          </a:effectRef>
          <a:fontRef idx="minor">
            <a:schemeClr val="dk1"/>
          </a:fontRef>
        </p:style>
        <p:txBody>
          <a:bodyPr>
            <a:noAutofit/>
          </a:bodyPr>
          <a:lstStyle/>
          <a:p>
            <a:r>
              <a:rPr lang="en-IN" sz="2800" b="1" dirty="0">
                <a:solidFill>
                  <a:srgbClr val="7030A0"/>
                </a:solidFill>
                <a:latin typeface="Times New Roman" pitchFamily="18" charset="0"/>
                <a:cs typeface="Times New Roman" pitchFamily="18" charset="0"/>
              </a:rPr>
              <a:t>Fast Fading Wireless Channel Modeling</a:t>
            </a:r>
            <a:endParaRPr lang="en-IN" sz="2800" dirty="0">
              <a:solidFill>
                <a:srgbClr val="7030A0"/>
              </a:solidFill>
            </a:endParaRPr>
          </a:p>
        </p:txBody>
      </p:sp>
      <p:sp>
        <p:nvSpPr>
          <p:cNvPr id="3" name="Content Placeholder 2"/>
          <p:cNvSpPr>
            <a:spLocks noGrp="1"/>
          </p:cNvSpPr>
          <p:nvPr>
            <p:ph idx="1"/>
          </p:nvPr>
        </p:nvSpPr>
        <p:spPr>
          <a:xfrm>
            <a:off x="539552" y="764704"/>
            <a:ext cx="8229600" cy="5818658"/>
          </a:xfrm>
        </p:spPr>
        <p:txBody>
          <a:bodyPr>
            <a:normAutofit fontScale="70000" lnSpcReduction="20000"/>
          </a:bodyPr>
          <a:lstStyle/>
          <a:p>
            <a:pPr marL="0" indent="0">
              <a:buNone/>
            </a:pPr>
            <a:r>
              <a:rPr lang="en-US" b="1" dirty="0">
                <a:solidFill>
                  <a:srgbClr val="0070C0"/>
                </a:solidFill>
                <a:latin typeface="Times New Roman" pitchFamily="18" charset="0"/>
                <a:cs typeface="Times New Roman" pitchFamily="18" charset="0"/>
              </a:rPr>
              <a:t>Fading</a:t>
            </a:r>
            <a:r>
              <a:rPr lang="en-US" dirty="0">
                <a:latin typeface="Times New Roman" pitchFamily="18" charset="0"/>
                <a:cs typeface="Times New Roman" pitchFamily="18" charset="0"/>
              </a:rPr>
              <a:t> = when the </a:t>
            </a:r>
            <a:r>
              <a:rPr lang="en-US" b="1" dirty="0">
                <a:latin typeface="Times New Roman" pitchFamily="18" charset="0"/>
                <a:cs typeface="Times New Roman" pitchFamily="18" charset="0"/>
              </a:rPr>
              <a:t>signal becomes weak or changes</a:t>
            </a:r>
            <a:r>
              <a:rPr lang="en-US" dirty="0">
                <a:latin typeface="Times New Roman" pitchFamily="18" charset="0"/>
                <a:cs typeface="Times New Roman" pitchFamily="18" charset="0"/>
              </a:rPr>
              <a:t> while traveling from the tower to your phone.</a:t>
            </a:r>
          </a:p>
          <a:p>
            <a:pPr marL="0" indent="0">
              <a:buNone/>
            </a:pPr>
            <a:r>
              <a:rPr lang="en-US" b="1" dirty="0">
                <a:solidFill>
                  <a:srgbClr val="0070C0"/>
                </a:solidFill>
                <a:latin typeface="Times New Roman" pitchFamily="18" charset="0"/>
                <a:cs typeface="Times New Roman" pitchFamily="18" charset="0"/>
              </a:rPr>
              <a:t>Why fading happens?</a:t>
            </a:r>
          </a:p>
          <a:p>
            <a:r>
              <a:rPr lang="en-US" dirty="0">
                <a:latin typeface="Times New Roman" pitchFamily="18" charset="0"/>
                <a:cs typeface="Times New Roman" pitchFamily="18" charset="0"/>
              </a:rPr>
              <a:t>Because signals don’t always travel in a straight line, they </a:t>
            </a:r>
            <a:r>
              <a:rPr lang="en-US" b="1" dirty="0">
                <a:latin typeface="Times New Roman" pitchFamily="18" charset="0"/>
                <a:cs typeface="Times New Roman" pitchFamily="18" charset="0"/>
              </a:rPr>
              <a:t>bounce, bend, or spread</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Because signals </a:t>
            </a:r>
            <a:r>
              <a:rPr lang="en-US" b="1" dirty="0">
                <a:latin typeface="Times New Roman" pitchFamily="18" charset="0"/>
                <a:cs typeface="Times New Roman" pitchFamily="18" charset="0"/>
              </a:rPr>
              <a:t>bounce (reflection), bend (diffraction), or spread (scattering)</a:t>
            </a:r>
            <a:r>
              <a:rPr lang="en-US" dirty="0">
                <a:latin typeface="Times New Roman" pitchFamily="18" charset="0"/>
                <a:cs typeface="Times New Roman" pitchFamily="18" charset="0"/>
              </a:rPr>
              <a:t> and may cancel each other or lose strength.</a:t>
            </a:r>
          </a:p>
          <a:p>
            <a:pPr marL="0" indent="0">
              <a:buNone/>
            </a:pPr>
            <a:r>
              <a:rPr lang="en-US" b="1" dirty="0">
                <a:solidFill>
                  <a:srgbClr val="FF0000"/>
                </a:solidFill>
                <a:latin typeface="Times New Roman" pitchFamily="18" charset="0"/>
                <a:cs typeface="Times New Roman" pitchFamily="18" charset="0"/>
              </a:rPr>
              <a:t>Example</a:t>
            </a:r>
          </a:p>
          <a:p>
            <a:r>
              <a:rPr lang="en-US" dirty="0">
                <a:latin typeface="Times New Roman" pitchFamily="18" charset="0"/>
                <a:cs typeface="Times New Roman" pitchFamily="18" charset="0"/>
              </a:rPr>
              <a:t>You are on a </a:t>
            </a:r>
            <a:r>
              <a:rPr lang="en-US" b="1" dirty="0">
                <a:latin typeface="Times New Roman" pitchFamily="18" charset="0"/>
                <a:cs typeface="Times New Roman" pitchFamily="18" charset="0"/>
              </a:rPr>
              <a:t>call inside a moving car</a:t>
            </a:r>
            <a:r>
              <a:rPr lang="en-US" dirty="0">
                <a:latin typeface="Times New Roman" pitchFamily="18" charset="0"/>
                <a:cs typeface="Times New Roman" pitchFamily="18" charset="0"/>
              </a:rPr>
              <a:t>. Sometimes the voice breaks or the internet slows down → that’s because the signal is </a:t>
            </a:r>
            <a:r>
              <a:rPr lang="en-US" b="1" dirty="0">
                <a:latin typeface="Times New Roman" pitchFamily="18" charset="0"/>
                <a:cs typeface="Times New Roman" pitchFamily="18" charset="0"/>
              </a:rPr>
              <a:t>fading</a:t>
            </a:r>
            <a:r>
              <a:rPr lang="en-US" dirty="0">
                <a:latin typeface="Times New Roman" pitchFamily="18" charset="0"/>
                <a:cs typeface="Times New Roman" pitchFamily="18" charset="0"/>
              </a:rPr>
              <a:t>.</a:t>
            </a:r>
          </a:p>
          <a:p>
            <a:pPr marL="0" indent="0">
              <a:buNone/>
            </a:pPr>
            <a:br>
              <a:rPr lang="en-US" dirty="0">
                <a:latin typeface="Times New Roman" pitchFamily="18" charset="0"/>
                <a:cs typeface="Times New Roman" pitchFamily="18" charset="0"/>
              </a:rPr>
            </a:br>
            <a:r>
              <a:rPr lang="en-US" b="1" dirty="0">
                <a:latin typeface="Times New Roman" pitchFamily="18" charset="0"/>
                <a:cs typeface="Times New Roman" pitchFamily="18" charset="0"/>
              </a:rPr>
              <a:t>Fading = ups and downs in signal strength. (Rapid Changes)</a:t>
            </a:r>
          </a:p>
          <a:p>
            <a:r>
              <a:rPr lang="en-US" b="1" dirty="0">
                <a:latin typeface="Times New Roman" pitchFamily="18" charset="0"/>
                <a:cs typeface="Times New Roman" pitchFamily="18" charset="0"/>
              </a:rPr>
              <a:t>Channel = Path for Signal</a:t>
            </a:r>
            <a:endParaRPr lang="en-US" dirty="0">
              <a:latin typeface="Times New Roman" pitchFamily="18" charset="0"/>
              <a:cs typeface="Times New Roman" pitchFamily="18" charset="0"/>
            </a:endParaRPr>
          </a:p>
          <a:p>
            <a:pPr lvl="1"/>
            <a:r>
              <a:rPr lang="en-US" dirty="0">
                <a:latin typeface="Times New Roman" pitchFamily="18" charset="0"/>
                <a:cs typeface="Times New Roman" pitchFamily="18" charset="0"/>
              </a:rPr>
              <a:t>A wireless channel is just the path the signal takes from transmitter (tower) to receiver (phone).</a:t>
            </a:r>
          </a:p>
          <a:p>
            <a:r>
              <a:rPr lang="en-US" b="1" dirty="0">
                <a:latin typeface="Times New Roman" pitchFamily="18" charset="0"/>
                <a:cs typeface="Times New Roman" pitchFamily="18" charset="0"/>
              </a:rPr>
              <a:t>Why Modeling?</a:t>
            </a:r>
            <a:endParaRPr lang="en-US" dirty="0">
              <a:latin typeface="Times New Roman" pitchFamily="18" charset="0"/>
              <a:cs typeface="Times New Roman" pitchFamily="18" charset="0"/>
            </a:endParaRPr>
          </a:p>
          <a:p>
            <a:pPr lvl="1"/>
            <a:r>
              <a:rPr lang="en-US" dirty="0">
                <a:latin typeface="Times New Roman" pitchFamily="18" charset="0"/>
                <a:cs typeface="Times New Roman" pitchFamily="18" charset="0"/>
              </a:rPr>
              <a:t>To </a:t>
            </a:r>
            <a:r>
              <a:rPr lang="en-US" b="1" dirty="0">
                <a:latin typeface="Times New Roman" pitchFamily="18" charset="0"/>
                <a:cs typeface="Times New Roman" pitchFamily="18" charset="0"/>
              </a:rPr>
              <a:t>study and predict</a:t>
            </a:r>
            <a:r>
              <a:rPr lang="en-US" dirty="0">
                <a:latin typeface="Times New Roman" pitchFamily="18" charset="0"/>
                <a:cs typeface="Times New Roman" pitchFamily="18" charset="0"/>
              </a:rPr>
              <a:t> how signals behave (we can’t see signals, so we use math + models to simulate them).</a:t>
            </a:r>
          </a:p>
          <a:p>
            <a:pPr marL="457200" lvl="1" indent="0">
              <a:buNone/>
            </a:pPr>
            <a:endParaRPr lang="en-US" b="1" dirty="0">
              <a:latin typeface="Times New Roman" pitchFamily="18" charset="0"/>
              <a:cs typeface="Times New Roman" pitchFamily="18" charset="0"/>
            </a:endParaRPr>
          </a:p>
          <a:p>
            <a:endParaRPr lang="en-US" dirty="0"/>
          </a:p>
          <a:p>
            <a:endParaRPr lang="en-IN" dirty="0"/>
          </a:p>
        </p:txBody>
      </p:sp>
    </p:spTree>
    <p:extLst>
      <p:ext uri="{BB962C8B-B14F-4D97-AF65-F5344CB8AC3E}">
        <p14:creationId xmlns:p14="http://schemas.microsoft.com/office/powerpoint/2010/main" val="3109202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20688"/>
            <a:ext cx="8229600" cy="5505475"/>
          </a:xfrm>
        </p:spPr>
        <p:txBody>
          <a:bodyPr>
            <a:normAutofit fontScale="85000" lnSpcReduction="10000"/>
          </a:bodyPr>
          <a:lstStyle/>
          <a:p>
            <a:pPr marL="0" indent="0">
              <a:buNone/>
            </a:pPr>
            <a:r>
              <a:rPr lang="en-IN" b="1" dirty="0">
                <a:solidFill>
                  <a:srgbClr val="FF0000"/>
                </a:solidFill>
                <a:latin typeface="Times New Roman" pitchFamily="18" charset="0"/>
                <a:cs typeface="Times New Roman" pitchFamily="18" charset="0"/>
              </a:rPr>
              <a:t>Real-Life Examples</a:t>
            </a:r>
          </a:p>
          <a:p>
            <a:r>
              <a:rPr lang="en-US" dirty="0">
                <a:latin typeface="Times New Roman" pitchFamily="18" charset="0"/>
                <a:cs typeface="Times New Roman" pitchFamily="18" charset="0"/>
              </a:rPr>
              <a:t>You’re watching YouTube on your phone while traveling in a </a:t>
            </a:r>
            <a:r>
              <a:rPr lang="en-US" b="1" dirty="0">
                <a:latin typeface="Times New Roman" pitchFamily="18" charset="0"/>
                <a:cs typeface="Times New Roman" pitchFamily="18" charset="0"/>
              </a:rPr>
              <a:t>fast-moving train</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Sometimes the video </a:t>
            </a:r>
            <a:r>
              <a:rPr lang="en-US" b="1" dirty="0">
                <a:latin typeface="Times New Roman" pitchFamily="18" charset="0"/>
                <a:cs typeface="Times New Roman" pitchFamily="18" charset="0"/>
              </a:rPr>
              <a:t>buffers suddenly</a:t>
            </a:r>
            <a:r>
              <a:rPr lang="en-US" dirty="0">
                <a:latin typeface="Times New Roman" pitchFamily="18" charset="0"/>
                <a:cs typeface="Times New Roman" pitchFamily="18" charset="0"/>
              </a:rPr>
              <a:t> for a moment, then becomes clear again.</a:t>
            </a:r>
          </a:p>
          <a:p>
            <a:r>
              <a:rPr lang="en-US" dirty="0">
                <a:latin typeface="Times New Roman" pitchFamily="18" charset="0"/>
                <a:cs typeface="Times New Roman" pitchFamily="18" charset="0"/>
              </a:rPr>
              <a:t>This happens because the signal is </a:t>
            </a:r>
            <a:r>
              <a:rPr lang="en-US" b="1" dirty="0">
                <a:latin typeface="Times New Roman" pitchFamily="18" charset="0"/>
                <a:cs typeface="Times New Roman" pitchFamily="18" charset="0"/>
              </a:rPr>
              <a:t>fast fading</a:t>
            </a:r>
            <a:r>
              <a:rPr lang="en-US" dirty="0">
                <a:latin typeface="Times New Roman" pitchFamily="18" charset="0"/>
                <a:cs typeface="Times New Roman" pitchFamily="18" charset="0"/>
              </a:rPr>
              <a:t> (the channel strength is changing quickly due to movement + reflections).</a:t>
            </a:r>
          </a:p>
          <a:p>
            <a:pPr marL="0" indent="0">
              <a:buNone/>
            </a:pPr>
            <a:endParaRPr lang="en-US" b="1" dirty="0">
              <a:solidFill>
                <a:srgbClr val="0070C0"/>
              </a:solidFill>
              <a:latin typeface="Times New Roman" pitchFamily="18" charset="0"/>
              <a:cs typeface="Times New Roman" pitchFamily="18" charset="0"/>
            </a:endParaRPr>
          </a:p>
          <a:p>
            <a:pPr marL="0" indent="0">
              <a:buNone/>
            </a:pPr>
            <a:r>
              <a:rPr lang="en-US" b="1" dirty="0">
                <a:solidFill>
                  <a:srgbClr val="FF0000"/>
                </a:solidFill>
                <a:latin typeface="Times New Roman" pitchFamily="18" charset="0"/>
                <a:cs typeface="Times New Roman" pitchFamily="18" charset="0"/>
              </a:rPr>
              <a:t>In short:</a:t>
            </a:r>
            <a:br>
              <a:rPr lang="en-US" dirty="0">
                <a:latin typeface="Times New Roman" pitchFamily="18" charset="0"/>
                <a:cs typeface="Times New Roman" pitchFamily="18" charset="0"/>
              </a:rPr>
            </a:br>
            <a:r>
              <a:rPr lang="en-US" b="1" dirty="0">
                <a:latin typeface="Times New Roman" pitchFamily="18" charset="0"/>
                <a:cs typeface="Times New Roman" pitchFamily="18" charset="0"/>
              </a:rPr>
              <a:t>Fast Fading Wireless Channel Modeling = making models to understand how signals quickly change in strength when people or objects move fast.</a:t>
            </a:r>
            <a:endParaRPr lang="en-IN"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2373874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b="1" dirty="0"/>
          </a:p>
          <a:p>
            <a:endParaRPr lang="en-US" b="1" dirty="0"/>
          </a:p>
          <a:p>
            <a:pPr marL="0" indent="0">
              <a:buNone/>
            </a:pPr>
            <a:endParaRPr lang="en-US" b="1" dirty="0"/>
          </a:p>
          <a:p>
            <a:r>
              <a:rPr lang="en-US" b="1" dirty="0">
                <a:latin typeface="Times New Roman" panose="02020603050405020304" pitchFamily="18" charset="0"/>
                <a:cs typeface="Times New Roman" panose="02020603050405020304" pitchFamily="18" charset="0"/>
              </a:rPr>
              <a:t>Building wall → Reflection (bounce)</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Corner of tall building → Diffraction (bend)</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Trees and small objects → Scattering (spread)</a:t>
            </a:r>
            <a:endParaRPr lang="en-US" dirty="0">
              <a:latin typeface="Times New Roman" panose="02020603050405020304" pitchFamily="18" charset="0"/>
              <a:cs typeface="Times New Roman" panose="02020603050405020304" pitchFamily="18" charset="0"/>
            </a:endParaRPr>
          </a:p>
          <a:p>
            <a:pPr marL="0" indent="0">
              <a:buNone/>
            </a:pPr>
            <a:endParaRPr lang="en-IN"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9712" y="332656"/>
            <a:ext cx="5328592"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9913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Gener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620688"/>
            <a:ext cx="4968552" cy="576064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652120" y="1268760"/>
            <a:ext cx="2664296" cy="3139321"/>
          </a:xfrm>
          <a:prstGeom prst="rect">
            <a:avLst/>
          </a:prstGeom>
          <a:noFill/>
        </p:spPr>
        <p:txBody>
          <a:bodyPr wrap="square" rtlCol="0">
            <a:spAutoFit/>
          </a:bodyPr>
          <a:lstStyle/>
          <a:p>
            <a:r>
              <a:rPr lang="en-US" b="1" dirty="0">
                <a:solidFill>
                  <a:srgbClr val="0070C0"/>
                </a:solidFill>
                <a:latin typeface="Times New Roman" pitchFamily="18" charset="0"/>
                <a:cs typeface="Times New Roman" pitchFamily="18" charset="0"/>
              </a:rPr>
              <a:t>Example:</a:t>
            </a:r>
          </a:p>
          <a:p>
            <a:r>
              <a:rPr lang="en-US" dirty="0">
                <a:solidFill>
                  <a:srgbClr val="0070C0"/>
                </a:solidFill>
                <a:latin typeface="Times New Roman" pitchFamily="18" charset="0"/>
                <a:cs typeface="Times New Roman" pitchFamily="18" charset="0"/>
              </a:rPr>
              <a:t>A </a:t>
            </a:r>
            <a:r>
              <a:rPr lang="en-US" b="1" dirty="0">
                <a:solidFill>
                  <a:srgbClr val="0070C0"/>
                </a:solidFill>
                <a:latin typeface="Times New Roman" pitchFamily="18" charset="0"/>
                <a:cs typeface="Times New Roman" pitchFamily="18" charset="0"/>
              </a:rPr>
              <a:t>5G smartphone</a:t>
            </a:r>
            <a:r>
              <a:rPr lang="en-US" dirty="0">
                <a:solidFill>
                  <a:srgbClr val="0070C0"/>
                </a:solidFill>
                <a:latin typeface="Times New Roman" pitchFamily="18" charset="0"/>
                <a:cs typeface="Times New Roman" pitchFamily="18" charset="0"/>
              </a:rPr>
              <a:t> may have:</a:t>
            </a:r>
          </a:p>
          <a:p>
            <a:pPr lvl="1"/>
            <a:r>
              <a:rPr lang="en-US" dirty="0">
                <a:latin typeface="Times New Roman" pitchFamily="18" charset="0"/>
                <a:cs typeface="Times New Roman" pitchFamily="18" charset="0"/>
              </a:rPr>
              <a:t>4 antennas for 5G/4G</a:t>
            </a:r>
          </a:p>
          <a:p>
            <a:pPr lvl="1"/>
            <a:r>
              <a:rPr lang="en-US" dirty="0">
                <a:latin typeface="Times New Roman" pitchFamily="18" charset="0"/>
                <a:cs typeface="Times New Roman" pitchFamily="18" charset="0"/>
              </a:rPr>
              <a:t>2 antennas for Wi-Fi</a:t>
            </a:r>
          </a:p>
          <a:p>
            <a:pPr lvl="1"/>
            <a:r>
              <a:rPr lang="en-US" dirty="0">
                <a:latin typeface="Times New Roman" pitchFamily="18" charset="0"/>
                <a:cs typeface="Times New Roman" pitchFamily="18" charset="0"/>
              </a:rPr>
              <a:t>1 antenna for GPS</a:t>
            </a:r>
          </a:p>
          <a:p>
            <a:pPr lvl="1"/>
            <a:r>
              <a:rPr lang="en-US" dirty="0">
                <a:latin typeface="Times New Roman" pitchFamily="18" charset="0"/>
                <a:cs typeface="Times New Roman" pitchFamily="18" charset="0"/>
              </a:rPr>
              <a:t>1 antenna for Bluetooth</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8 antennas in total</a:t>
            </a:r>
            <a:r>
              <a:rPr lang="en-US" dirty="0">
                <a:latin typeface="Times New Roman" pitchFamily="18" charset="0"/>
                <a:cs typeface="Times New Roman" pitchFamily="18" charset="0"/>
              </a:rPr>
              <a:t> (hidden inside the phone).</a:t>
            </a:r>
          </a:p>
        </p:txBody>
      </p:sp>
    </p:spTree>
    <p:extLst>
      <p:ext uri="{BB962C8B-B14F-4D97-AF65-F5344CB8AC3E}">
        <p14:creationId xmlns:p14="http://schemas.microsoft.com/office/powerpoint/2010/main" val="4281752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5576" y="764704"/>
            <a:ext cx="7704856" cy="5361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2039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3232" cy="850106"/>
          </a:xfrm>
        </p:spPr>
        <p:txBody>
          <a:bodyPr>
            <a:noAutofit/>
          </a:bodyPr>
          <a:lstStyle/>
          <a:p>
            <a:r>
              <a:rPr lang="en-IN" sz="3200" b="1" dirty="0">
                <a:solidFill>
                  <a:srgbClr val="7030A0"/>
                </a:solidFill>
                <a:latin typeface="Times New Roman" pitchFamily="18" charset="0"/>
                <a:cs typeface="Times New Roman" pitchFamily="18" charset="0"/>
              </a:rPr>
              <a:t>Fast Fading Wireless Channel Modeling Block Diagram</a:t>
            </a:r>
            <a:endParaRPr lang="en-IN" sz="3200" dirty="0"/>
          </a:p>
        </p:txBody>
      </p:sp>
      <p:pic>
        <p:nvPicPr>
          <p:cNvPr id="205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123728" y="1340768"/>
            <a:ext cx="4824536" cy="504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61343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043608" y="332656"/>
            <a:ext cx="7128792"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p:cNvSpPr/>
          <p:nvPr/>
        </p:nvSpPr>
        <p:spPr>
          <a:xfrm>
            <a:off x="675576" y="2564904"/>
            <a:ext cx="7992888" cy="3754874"/>
          </a:xfrm>
          <a:prstGeom prst="rect">
            <a:avLst/>
          </a:prstGeom>
        </p:spPr>
        <p:txBody>
          <a:bodyPr wrap="square">
            <a:spAutoFit/>
          </a:bodyPr>
          <a:lstStyle/>
          <a:p>
            <a:r>
              <a:rPr lang="en-US" sz="2000" b="1" dirty="0">
                <a:solidFill>
                  <a:srgbClr val="0070C0"/>
                </a:solidFill>
                <a:latin typeface="Times New Roman" pitchFamily="18" charset="0"/>
                <a:cs typeface="Times New Roman" pitchFamily="18" charset="0"/>
              </a:rPr>
              <a:t>1. Input Signal</a:t>
            </a:r>
          </a:p>
          <a:p>
            <a:r>
              <a:rPr lang="en-US" sz="2000" dirty="0">
                <a:latin typeface="Times New Roman" pitchFamily="18" charset="0"/>
                <a:cs typeface="Times New Roman" pitchFamily="18" charset="0"/>
              </a:rPr>
              <a:t>This is the original transmitted signal (voice, data, video, etc.).</a:t>
            </a:r>
          </a:p>
          <a:p>
            <a:r>
              <a:rPr lang="en-US" sz="2000" b="1" dirty="0">
                <a:solidFill>
                  <a:srgbClr val="0070C0"/>
                </a:solidFill>
                <a:latin typeface="Times New Roman" pitchFamily="18" charset="0"/>
                <a:cs typeface="Times New Roman" pitchFamily="18" charset="0"/>
              </a:rPr>
              <a:t>Example: </a:t>
            </a:r>
            <a:r>
              <a:rPr lang="en-US" sz="2000" dirty="0">
                <a:latin typeface="Times New Roman" pitchFamily="18" charset="0"/>
                <a:cs typeface="Times New Roman" pitchFamily="18" charset="0"/>
              </a:rPr>
              <a:t>A </a:t>
            </a:r>
            <a:r>
              <a:rPr lang="en-US" sz="2000" b="1" dirty="0">
                <a:latin typeface="Times New Roman" pitchFamily="18" charset="0"/>
                <a:cs typeface="Times New Roman" pitchFamily="18" charset="0"/>
              </a:rPr>
              <a:t>mobile base station</a:t>
            </a:r>
            <a:r>
              <a:rPr lang="en-US" sz="2000" dirty="0">
                <a:latin typeface="Times New Roman" pitchFamily="18" charset="0"/>
                <a:cs typeface="Times New Roman" pitchFamily="18" charset="0"/>
              </a:rPr>
              <a:t> transmits a digital voice signal to your phone.</a:t>
            </a:r>
          </a:p>
          <a:p>
            <a:r>
              <a:rPr lang="en-US" sz="2000" b="1" dirty="0">
                <a:solidFill>
                  <a:srgbClr val="0070C0"/>
                </a:solidFill>
                <a:latin typeface="Times New Roman" pitchFamily="18" charset="0"/>
                <a:cs typeface="Times New Roman" pitchFamily="18" charset="0"/>
              </a:rPr>
              <a:t>2. Multipath Model (Reflections, Scattering)</a:t>
            </a:r>
          </a:p>
          <a:p>
            <a:r>
              <a:rPr lang="en-US" sz="2000" dirty="0">
                <a:latin typeface="Times New Roman" pitchFamily="18" charset="0"/>
                <a:cs typeface="Times New Roman" pitchFamily="18" charset="0"/>
              </a:rPr>
              <a:t>The signal does not travel in a straight line only; instead, it bounces off </a:t>
            </a:r>
            <a:r>
              <a:rPr lang="en-US" sz="2000" b="1" dirty="0">
                <a:latin typeface="Times New Roman" pitchFamily="18" charset="0"/>
                <a:cs typeface="Times New Roman" pitchFamily="18" charset="0"/>
              </a:rPr>
              <a:t>buildings, trees, vehicles, etc.</a:t>
            </a: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This creates </a:t>
            </a:r>
            <a:r>
              <a:rPr lang="en-US" sz="2000" b="1" dirty="0">
                <a:latin typeface="Times New Roman" pitchFamily="18" charset="0"/>
                <a:cs typeface="Times New Roman" pitchFamily="18" charset="0"/>
              </a:rPr>
              <a:t>multiple copies</a:t>
            </a:r>
            <a:r>
              <a:rPr lang="en-US" sz="2000" dirty="0">
                <a:latin typeface="Times New Roman" pitchFamily="18" charset="0"/>
                <a:cs typeface="Times New Roman" pitchFamily="18" charset="0"/>
              </a:rPr>
              <a:t> of the same signal, each arriving at slightly different times and phases.</a:t>
            </a:r>
          </a:p>
          <a:p>
            <a:r>
              <a:rPr lang="en-US" sz="2000" b="1" dirty="0">
                <a:solidFill>
                  <a:srgbClr val="0070C0"/>
                </a:solidFill>
                <a:latin typeface="Times New Roman" pitchFamily="18" charset="0"/>
                <a:cs typeface="Times New Roman" pitchFamily="18" charset="0"/>
              </a:rPr>
              <a:t>Example: </a:t>
            </a:r>
            <a:r>
              <a:rPr lang="en-US" sz="2000" dirty="0">
                <a:latin typeface="Times New Roman" pitchFamily="18" charset="0"/>
                <a:cs typeface="Times New Roman" pitchFamily="18" charset="0"/>
              </a:rPr>
              <a:t>Your phone receives one signal directly, another reflected from a building, another scattered by a moving bus.</a:t>
            </a:r>
          </a:p>
          <a:p>
            <a:pPr marL="342900" indent="-342900">
              <a:buAutoNum type="arabicPeriod"/>
            </a:pPr>
            <a:endParaRPr lang="en-IN" dirty="0"/>
          </a:p>
        </p:txBody>
      </p:sp>
    </p:spTree>
    <p:extLst>
      <p:ext uri="{BB962C8B-B14F-4D97-AF65-F5344CB8AC3E}">
        <p14:creationId xmlns:p14="http://schemas.microsoft.com/office/powerpoint/2010/main" val="1061257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332656"/>
            <a:ext cx="8229600" cy="6081539"/>
          </a:xfrm>
        </p:spPr>
        <p:txBody>
          <a:bodyPr>
            <a:normAutofit fontScale="70000" lnSpcReduction="20000"/>
          </a:bodyPr>
          <a:lstStyle/>
          <a:p>
            <a:pPr marL="0" indent="0">
              <a:buNone/>
            </a:pPr>
            <a:r>
              <a:rPr lang="en-US" b="1" dirty="0">
                <a:latin typeface="Times New Roman" pitchFamily="18" charset="0"/>
                <a:cs typeface="Times New Roman" pitchFamily="18" charset="0"/>
              </a:rPr>
              <a:t>3. Doppler Effect (due to movement)</a:t>
            </a:r>
          </a:p>
          <a:p>
            <a:r>
              <a:rPr lang="en-US" dirty="0">
                <a:latin typeface="Times New Roman" pitchFamily="18" charset="0"/>
                <a:cs typeface="Times New Roman" pitchFamily="18" charset="0"/>
              </a:rPr>
              <a:t>If you are moving (car, train, bike), the frequency of signals changes.</a:t>
            </a:r>
          </a:p>
          <a:p>
            <a:r>
              <a:rPr lang="en-US" dirty="0">
                <a:latin typeface="Times New Roman" pitchFamily="18" charset="0"/>
                <a:cs typeface="Times New Roman" pitchFamily="18" charset="0"/>
              </a:rPr>
              <a:t>The shift depends on speed → Faster movement → faster frequency shifts.</a:t>
            </a:r>
          </a:p>
          <a:p>
            <a:r>
              <a:rPr lang="en-US" dirty="0">
                <a:latin typeface="Times New Roman" pitchFamily="18" charset="0"/>
                <a:cs typeface="Times New Roman" pitchFamily="18" charset="0"/>
              </a:rPr>
              <a:t>Example: If you’re in a </a:t>
            </a:r>
            <a:r>
              <a:rPr lang="en-US" b="1" dirty="0">
                <a:latin typeface="Times New Roman" pitchFamily="18" charset="0"/>
                <a:cs typeface="Times New Roman" pitchFamily="18" charset="0"/>
              </a:rPr>
              <a:t>car moving at high speed</a:t>
            </a:r>
            <a:r>
              <a:rPr lang="en-US" dirty="0">
                <a:latin typeface="Times New Roman" pitchFamily="18" charset="0"/>
                <a:cs typeface="Times New Roman" pitchFamily="18" charset="0"/>
              </a:rPr>
              <a:t>, the received signals fluctuate much more rapidly compared to when you’re walking.</a:t>
            </a:r>
          </a:p>
          <a:p>
            <a:endParaRPr lang="en-US" b="1" dirty="0">
              <a:latin typeface="Times New Roman" pitchFamily="18" charset="0"/>
              <a:cs typeface="Times New Roman" pitchFamily="18" charset="0"/>
            </a:endParaRPr>
          </a:p>
          <a:p>
            <a:pPr marL="0" indent="0">
              <a:buNone/>
            </a:pPr>
            <a:r>
              <a:rPr lang="en-US" b="1" dirty="0">
                <a:latin typeface="Times New Roman" pitchFamily="18" charset="0"/>
                <a:cs typeface="Times New Roman" pitchFamily="18" charset="0"/>
              </a:rPr>
              <a:t>4. Fading Effect (</a:t>
            </a:r>
            <a:r>
              <a:rPr lang="en-IN" b="1" dirty="0">
                <a:latin typeface="Times New Roman" pitchFamily="18" charset="0"/>
                <a:cs typeface="Times New Roman" pitchFamily="18" charset="0"/>
              </a:rPr>
              <a:t>mixing of signals)</a:t>
            </a:r>
            <a:endParaRPr lang="en-US" b="1" dirty="0">
              <a:latin typeface="Times New Roman" pitchFamily="18" charset="0"/>
              <a:cs typeface="Times New Roman" pitchFamily="18" charset="0"/>
            </a:endParaRPr>
          </a:p>
          <a:p>
            <a:pPr lvl="1">
              <a:buFont typeface="Wingdings" pitchFamily="2" charset="2"/>
              <a:buChar char="ü"/>
            </a:pPr>
            <a:r>
              <a:rPr lang="en-US" sz="3400" dirty="0">
                <a:latin typeface="Times New Roman" pitchFamily="18" charset="0"/>
                <a:cs typeface="Times New Roman" pitchFamily="18" charset="0"/>
              </a:rPr>
              <a:t>The multiple signals from multipath </a:t>
            </a:r>
            <a:r>
              <a:rPr lang="en-US" sz="3400" b="1" dirty="0">
                <a:latin typeface="Times New Roman" pitchFamily="18" charset="0"/>
                <a:cs typeface="Times New Roman" pitchFamily="18" charset="0"/>
              </a:rPr>
              <a:t>combine</a:t>
            </a:r>
            <a:r>
              <a:rPr lang="en-US" sz="3400" dirty="0">
                <a:latin typeface="Times New Roman" pitchFamily="18" charset="0"/>
                <a:cs typeface="Times New Roman" pitchFamily="18" charset="0"/>
              </a:rPr>
              <a:t> at your phone.</a:t>
            </a:r>
          </a:p>
          <a:p>
            <a:pPr lvl="1">
              <a:buFont typeface="Wingdings" pitchFamily="2" charset="2"/>
              <a:buChar char="ü"/>
            </a:pPr>
            <a:r>
              <a:rPr lang="en-US" sz="3400" dirty="0">
                <a:latin typeface="Times New Roman" pitchFamily="18" charset="0"/>
                <a:cs typeface="Times New Roman" pitchFamily="18" charset="0"/>
              </a:rPr>
              <a:t>Sometimes they </a:t>
            </a:r>
            <a:r>
              <a:rPr lang="en-US" sz="3400" b="1" dirty="0">
                <a:latin typeface="Times New Roman" pitchFamily="18" charset="0"/>
                <a:cs typeface="Times New Roman" pitchFamily="18" charset="0"/>
              </a:rPr>
              <a:t>add up → strong signal</a:t>
            </a:r>
            <a:r>
              <a:rPr lang="en-US" sz="3400" dirty="0">
                <a:latin typeface="Times New Roman" pitchFamily="18" charset="0"/>
                <a:cs typeface="Times New Roman" pitchFamily="18" charset="0"/>
              </a:rPr>
              <a:t>, sometimes they </a:t>
            </a:r>
            <a:r>
              <a:rPr lang="en-US" sz="3400" b="1" dirty="0">
                <a:latin typeface="Times New Roman" pitchFamily="18" charset="0"/>
                <a:cs typeface="Times New Roman" pitchFamily="18" charset="0"/>
              </a:rPr>
              <a:t>cancel → weak signal</a:t>
            </a:r>
            <a:r>
              <a:rPr lang="en-US" sz="3400" dirty="0">
                <a:latin typeface="Times New Roman" pitchFamily="18" charset="0"/>
                <a:cs typeface="Times New Roman" pitchFamily="18" charset="0"/>
              </a:rPr>
              <a:t>.</a:t>
            </a:r>
          </a:p>
          <a:p>
            <a:pPr lvl="1">
              <a:buFont typeface="Wingdings" pitchFamily="2" charset="2"/>
              <a:buChar char="ü"/>
            </a:pPr>
            <a:r>
              <a:rPr lang="en-US" sz="3400" dirty="0">
                <a:latin typeface="Times New Roman" pitchFamily="18" charset="0"/>
                <a:cs typeface="Times New Roman" pitchFamily="18" charset="0"/>
              </a:rPr>
              <a:t>Because of Doppler, this adding/canceling happens </a:t>
            </a:r>
            <a:r>
              <a:rPr lang="en-US" sz="3400" b="1" dirty="0">
                <a:latin typeface="Times New Roman" pitchFamily="18" charset="0"/>
                <a:cs typeface="Times New Roman" pitchFamily="18" charset="0"/>
              </a:rPr>
              <a:t>very quickly</a:t>
            </a:r>
            <a:r>
              <a:rPr lang="en-US" sz="3400" dirty="0">
                <a:latin typeface="Times New Roman" pitchFamily="18" charset="0"/>
                <a:cs typeface="Times New Roman" pitchFamily="18" charset="0"/>
              </a:rPr>
              <a:t> → called </a:t>
            </a:r>
            <a:r>
              <a:rPr lang="en-US" sz="3400" b="1" dirty="0">
                <a:latin typeface="Times New Roman" pitchFamily="18" charset="0"/>
                <a:cs typeface="Times New Roman" pitchFamily="18" charset="0"/>
              </a:rPr>
              <a:t>fast fading</a:t>
            </a:r>
            <a:r>
              <a:rPr lang="en-US" sz="3400" dirty="0">
                <a:latin typeface="Times New Roman" pitchFamily="18" charset="0"/>
                <a:cs typeface="Times New Roman" pitchFamily="18" charset="0"/>
              </a:rPr>
              <a:t>.</a:t>
            </a:r>
          </a:p>
          <a:p>
            <a:pPr lvl="1">
              <a:buFont typeface="Wingdings" pitchFamily="2" charset="2"/>
              <a:buChar char="ü"/>
            </a:pPr>
            <a:r>
              <a:rPr lang="en-US" sz="3400" dirty="0">
                <a:latin typeface="Times New Roman" pitchFamily="18" charset="0"/>
                <a:cs typeface="Times New Roman" pitchFamily="18" charset="0"/>
              </a:rPr>
              <a:t>Example: When you’re on a bike, your music streaming sometimes plays smoothly (signal strong) and sometimes buffers suddenly (signal weak).</a:t>
            </a:r>
          </a:p>
          <a:p>
            <a:pPr marL="457200" lvl="1" indent="0">
              <a:buNone/>
            </a:pPr>
            <a:endParaRPr lang="en-US" dirty="0"/>
          </a:p>
          <a:p>
            <a:pPr marL="457200" lvl="1" indent="0">
              <a:buNone/>
            </a:pPr>
            <a:endParaRPr lang="en-US" dirty="0"/>
          </a:p>
          <a:p>
            <a:endParaRPr lang="en-US" dirty="0"/>
          </a:p>
          <a:p>
            <a:endParaRPr lang="en-IN" dirty="0"/>
          </a:p>
        </p:txBody>
      </p:sp>
    </p:spTree>
    <p:extLst>
      <p:ext uri="{BB962C8B-B14F-4D97-AF65-F5344CB8AC3E}">
        <p14:creationId xmlns:p14="http://schemas.microsoft.com/office/powerpoint/2010/main" val="22281283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433467"/>
          </a:xfrm>
        </p:spPr>
        <p:txBody>
          <a:bodyPr>
            <a:normAutofit fontScale="70000" lnSpcReduction="20000"/>
          </a:bodyPr>
          <a:lstStyle/>
          <a:p>
            <a:pPr marL="0" indent="0">
              <a:buNone/>
            </a:pPr>
            <a:r>
              <a:rPr lang="en-US" b="1" dirty="0">
                <a:latin typeface="Times New Roman" pitchFamily="18" charset="0"/>
                <a:cs typeface="Times New Roman" pitchFamily="18" charset="0"/>
              </a:rPr>
              <a:t>5. Channel Output (final received signal)</a:t>
            </a:r>
          </a:p>
          <a:p>
            <a:r>
              <a:rPr lang="en-US" dirty="0">
                <a:latin typeface="Times New Roman" pitchFamily="18" charset="0"/>
                <a:cs typeface="Times New Roman" pitchFamily="18" charset="0"/>
              </a:rPr>
              <a:t>The final received signal after multipath + Doppler effect.</a:t>
            </a:r>
          </a:p>
          <a:p>
            <a:r>
              <a:rPr lang="en-US" dirty="0">
                <a:latin typeface="Times New Roman" pitchFamily="18" charset="0"/>
                <a:cs typeface="Times New Roman" pitchFamily="18" charset="0"/>
              </a:rPr>
              <a:t>It is a </a:t>
            </a:r>
            <a:r>
              <a:rPr lang="en-US" b="1" dirty="0">
                <a:latin typeface="Times New Roman" pitchFamily="18" charset="0"/>
                <a:cs typeface="Times New Roman" pitchFamily="18" charset="0"/>
              </a:rPr>
              <a:t>distorted version</a:t>
            </a:r>
            <a:r>
              <a:rPr lang="en-US" dirty="0">
                <a:latin typeface="Times New Roman" pitchFamily="18" charset="0"/>
                <a:cs typeface="Times New Roman" pitchFamily="18" charset="0"/>
              </a:rPr>
              <a:t> of the input: amplitude, phase, and frequency vary with time → this is </a:t>
            </a:r>
            <a:r>
              <a:rPr lang="en-US" b="1" dirty="0">
                <a:latin typeface="Times New Roman" pitchFamily="18" charset="0"/>
                <a:cs typeface="Times New Roman" pitchFamily="18" charset="0"/>
              </a:rPr>
              <a:t>fast fading</a:t>
            </a:r>
            <a:r>
              <a:rPr lang="en-US" dirty="0">
                <a:latin typeface="Times New Roman" pitchFamily="18" charset="0"/>
                <a:cs typeface="Times New Roman" pitchFamily="18" charset="0"/>
              </a:rPr>
              <a:t>.</a:t>
            </a:r>
          </a:p>
          <a:p>
            <a:endParaRPr lang="en-US" dirty="0">
              <a:latin typeface="Times New Roman" pitchFamily="18" charset="0"/>
              <a:cs typeface="Times New Roman" pitchFamily="18" charset="0"/>
            </a:endParaRPr>
          </a:p>
          <a:p>
            <a:pPr lvl="1"/>
            <a:r>
              <a:rPr lang="en-US" dirty="0">
                <a:latin typeface="Times New Roman" pitchFamily="18" charset="0"/>
                <a:cs typeface="Times New Roman" pitchFamily="18" charset="0"/>
              </a:rPr>
              <a:t>This is what finally reaches your phone.</a:t>
            </a:r>
          </a:p>
          <a:p>
            <a:pPr lvl="1"/>
            <a:r>
              <a:rPr lang="en-US" dirty="0">
                <a:latin typeface="Times New Roman" pitchFamily="18" charset="0"/>
                <a:cs typeface="Times New Roman" pitchFamily="18" charset="0"/>
              </a:rPr>
              <a:t>It keeps changing rapidly in strength → sometimes clear, sometimes weak.</a:t>
            </a:r>
          </a:p>
          <a:p>
            <a:pPr lvl="1"/>
            <a:r>
              <a:rPr lang="en-US" dirty="0">
                <a:latin typeface="Times New Roman" pitchFamily="18" charset="0"/>
                <a:cs typeface="Times New Roman" pitchFamily="18" charset="0"/>
              </a:rPr>
              <a:t>Example: During a call in a moving car, the voice may sound </a:t>
            </a:r>
            <a:r>
              <a:rPr lang="en-US" b="1" dirty="0">
                <a:latin typeface="Times New Roman" pitchFamily="18" charset="0"/>
                <a:cs typeface="Times New Roman" pitchFamily="18" charset="0"/>
              </a:rPr>
              <a:t>clear for a moment, then cut for a second</a:t>
            </a:r>
            <a:r>
              <a:rPr lang="en-US" dirty="0">
                <a:latin typeface="Times New Roman" pitchFamily="18" charset="0"/>
                <a:cs typeface="Times New Roman" pitchFamily="18" charset="0"/>
              </a:rPr>
              <a:t>, because of fast fading.</a:t>
            </a:r>
          </a:p>
          <a:p>
            <a:pPr marL="457200" lvl="1" indent="0">
              <a:buNone/>
            </a:pPr>
            <a:endParaRPr lang="en-US" dirty="0">
              <a:latin typeface="Times New Roman" pitchFamily="18" charset="0"/>
              <a:cs typeface="Times New Roman" pitchFamily="18" charset="0"/>
            </a:endParaRPr>
          </a:p>
          <a:p>
            <a:pPr marL="0" indent="0">
              <a:buNone/>
            </a:pPr>
            <a:r>
              <a:rPr lang="en-US" b="1" dirty="0">
                <a:latin typeface="Times New Roman" pitchFamily="18" charset="0"/>
                <a:cs typeface="Times New Roman" pitchFamily="18" charset="0"/>
              </a:rPr>
              <a:t>In simple words:</a:t>
            </a:r>
          </a:p>
          <a:p>
            <a:r>
              <a:rPr lang="en-US" dirty="0">
                <a:latin typeface="Times New Roman" pitchFamily="18" charset="0"/>
                <a:cs typeface="Times New Roman" pitchFamily="18" charset="0"/>
              </a:rPr>
              <a:t>The tower sends a clean signal → it bounces around (multipath) → your movement shifts its frequency (Doppler) → signals add or cancel (fading) → your phone gets a signal that keeps going up and down (fast fading).</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432270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92696"/>
            <a:ext cx="8229600" cy="5433467"/>
          </a:xfrm>
        </p:spPr>
        <p:txBody>
          <a:bodyPr>
            <a:normAutofit fontScale="85000" lnSpcReduction="20000"/>
          </a:bodyPr>
          <a:lstStyle/>
          <a:p>
            <a:pPr marL="0" indent="0">
              <a:buNone/>
            </a:pPr>
            <a:r>
              <a:rPr lang="en-US" b="1" dirty="0">
                <a:solidFill>
                  <a:srgbClr val="0070C0"/>
                </a:solidFill>
                <a:latin typeface="Times New Roman" pitchFamily="18" charset="0"/>
                <a:cs typeface="Times New Roman" pitchFamily="18" charset="0"/>
              </a:rPr>
              <a:t>Line-of-Sight (LOS)</a:t>
            </a:r>
          </a:p>
          <a:p>
            <a:r>
              <a:rPr lang="en-US" b="1" dirty="0">
                <a:latin typeface="Times New Roman" pitchFamily="18" charset="0"/>
                <a:cs typeface="Times New Roman" pitchFamily="18" charset="0"/>
              </a:rPr>
              <a:t>LOS means</a:t>
            </a:r>
            <a:r>
              <a:rPr lang="en-US" dirty="0">
                <a:latin typeface="Times New Roman" pitchFamily="18" charset="0"/>
                <a:cs typeface="Times New Roman" pitchFamily="18" charset="0"/>
              </a:rPr>
              <a:t> there is a </a:t>
            </a:r>
            <a:r>
              <a:rPr lang="en-US" b="1" dirty="0">
                <a:latin typeface="Times New Roman" pitchFamily="18" charset="0"/>
                <a:cs typeface="Times New Roman" pitchFamily="18" charset="0"/>
              </a:rPr>
              <a:t>clear, straight path</a:t>
            </a:r>
            <a:r>
              <a:rPr lang="en-US" dirty="0">
                <a:latin typeface="Times New Roman" pitchFamily="18" charset="0"/>
                <a:cs typeface="Times New Roman" pitchFamily="18" charset="0"/>
              </a:rPr>
              <a:t> between the transmitter (tower) and the receiver (phone).</a:t>
            </a:r>
          </a:p>
          <a:p>
            <a:r>
              <a:rPr lang="en-US" dirty="0">
                <a:latin typeface="Times New Roman" pitchFamily="18" charset="0"/>
                <a:cs typeface="Times New Roman" pitchFamily="18" charset="0"/>
              </a:rPr>
              <a:t>No big obstacles (like buildings, hills, or walls) in between.</a:t>
            </a:r>
          </a:p>
          <a:p>
            <a:pPr marL="0" indent="0">
              <a:buNone/>
            </a:pPr>
            <a:r>
              <a:rPr lang="en-US" b="1" dirty="0">
                <a:solidFill>
                  <a:srgbClr val="0070C0"/>
                </a:solidFill>
                <a:latin typeface="Times New Roman" pitchFamily="18" charset="0"/>
                <a:cs typeface="Times New Roman" pitchFamily="18" charset="0"/>
              </a:rPr>
              <a:t>Example:</a:t>
            </a:r>
          </a:p>
          <a:p>
            <a:r>
              <a:rPr lang="en-US" dirty="0">
                <a:latin typeface="Times New Roman" pitchFamily="18" charset="0"/>
                <a:cs typeface="Times New Roman" pitchFamily="18" charset="0"/>
              </a:rPr>
              <a:t>If you are standing in an </a:t>
            </a:r>
            <a:r>
              <a:rPr lang="en-US" b="1" dirty="0">
                <a:latin typeface="Times New Roman" pitchFamily="18" charset="0"/>
                <a:cs typeface="Times New Roman" pitchFamily="18" charset="0"/>
              </a:rPr>
              <a:t>open field</a:t>
            </a:r>
            <a:r>
              <a:rPr lang="en-US" dirty="0">
                <a:latin typeface="Times New Roman" pitchFamily="18" charset="0"/>
                <a:cs typeface="Times New Roman" pitchFamily="18" charset="0"/>
              </a:rPr>
              <a:t> and can </a:t>
            </a:r>
            <a:r>
              <a:rPr lang="en-US" b="1" dirty="0">
                <a:latin typeface="Times New Roman" pitchFamily="18" charset="0"/>
                <a:cs typeface="Times New Roman" pitchFamily="18" charset="0"/>
              </a:rPr>
              <a:t>see the tower directly</a:t>
            </a:r>
            <a:r>
              <a:rPr lang="en-US" dirty="0">
                <a:latin typeface="Times New Roman" pitchFamily="18" charset="0"/>
                <a:cs typeface="Times New Roman" pitchFamily="18" charset="0"/>
              </a:rPr>
              <a:t>, that’s </a:t>
            </a:r>
            <a:r>
              <a:rPr lang="en-US" b="1" dirty="0">
                <a:latin typeface="Times New Roman" pitchFamily="18" charset="0"/>
                <a:cs typeface="Times New Roman" pitchFamily="18" charset="0"/>
              </a:rPr>
              <a:t>Line-of-Sight (LOS)</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If you are behind a tall building and can’t see the tower, that’s </a:t>
            </a:r>
            <a:r>
              <a:rPr lang="en-US" b="1" dirty="0">
                <a:latin typeface="Times New Roman" pitchFamily="18" charset="0"/>
                <a:cs typeface="Times New Roman" pitchFamily="18" charset="0"/>
              </a:rPr>
              <a:t>Non-Line-of-Sight (NLOS)</a:t>
            </a:r>
            <a:r>
              <a:rPr lang="en-US" dirty="0">
                <a:latin typeface="Times New Roman" pitchFamily="18" charset="0"/>
                <a:cs typeface="Times New Roman" pitchFamily="18" charset="0"/>
              </a:rPr>
              <a:t>.</a:t>
            </a:r>
          </a:p>
          <a:p>
            <a:pPr marL="0" indent="0">
              <a:buNone/>
            </a:pPr>
            <a:br>
              <a:rPr lang="en-US" dirty="0">
                <a:latin typeface="Times New Roman" pitchFamily="18" charset="0"/>
                <a:cs typeface="Times New Roman" pitchFamily="18" charset="0"/>
              </a:rPr>
            </a:br>
            <a:r>
              <a:rPr lang="en-US" b="1" dirty="0">
                <a:solidFill>
                  <a:srgbClr val="0070C0"/>
                </a:solidFill>
                <a:latin typeface="Times New Roman" pitchFamily="18" charset="0"/>
                <a:cs typeface="Times New Roman" pitchFamily="18" charset="0"/>
              </a:rPr>
              <a:t>LOS </a:t>
            </a:r>
            <a:r>
              <a:rPr lang="en-US" b="1" dirty="0">
                <a:latin typeface="Times New Roman" pitchFamily="18" charset="0"/>
                <a:cs typeface="Times New Roman" pitchFamily="18" charset="0"/>
              </a:rPr>
              <a:t>= direct view → strong signal.</a:t>
            </a:r>
            <a:br>
              <a:rPr lang="en-US" dirty="0">
                <a:latin typeface="Times New Roman" pitchFamily="18" charset="0"/>
                <a:cs typeface="Times New Roman" pitchFamily="18" charset="0"/>
              </a:rPr>
            </a:br>
            <a:r>
              <a:rPr lang="en-US" b="1" dirty="0">
                <a:solidFill>
                  <a:srgbClr val="0070C0"/>
                </a:solidFill>
                <a:latin typeface="Times New Roman" pitchFamily="18" charset="0"/>
                <a:cs typeface="Times New Roman" pitchFamily="18" charset="0"/>
              </a:rPr>
              <a:t>NLOS</a:t>
            </a:r>
            <a:r>
              <a:rPr lang="en-US" b="1" dirty="0">
                <a:latin typeface="Times New Roman" pitchFamily="18" charset="0"/>
                <a:cs typeface="Times New Roman" pitchFamily="18" charset="0"/>
              </a:rPr>
              <a:t> = blocked view → weaker signal (depends on reflections, bending, scattering).</a:t>
            </a:r>
            <a:endParaRPr lang="en-US"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976312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1600" y="908720"/>
            <a:ext cx="7066880" cy="50734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0967875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style>
          <a:lnRef idx="2">
            <a:schemeClr val="accent5"/>
          </a:lnRef>
          <a:fillRef idx="1">
            <a:schemeClr val="lt1"/>
          </a:fillRef>
          <a:effectRef idx="0">
            <a:schemeClr val="accent5"/>
          </a:effectRef>
          <a:fontRef idx="minor">
            <a:schemeClr val="dk1"/>
          </a:fontRef>
        </p:style>
        <p:txBody>
          <a:bodyPr/>
          <a:lstStyle/>
          <a:p>
            <a:r>
              <a:rPr lang="en-US" b="1" dirty="0">
                <a:solidFill>
                  <a:srgbClr val="0070C0"/>
                </a:solidFill>
                <a:latin typeface="Times New Roman" pitchFamily="18" charset="0"/>
                <a:cs typeface="Times New Roman" pitchFamily="18" charset="0"/>
              </a:rPr>
              <a:t>Rayleigh Fading Channel</a:t>
            </a:r>
            <a:endParaRPr lang="en-IN" dirty="0"/>
          </a:p>
        </p:txBody>
      </p:sp>
      <p:sp>
        <p:nvSpPr>
          <p:cNvPr id="3" name="Content Placeholder 2"/>
          <p:cNvSpPr>
            <a:spLocks noGrp="1"/>
          </p:cNvSpPr>
          <p:nvPr>
            <p:ph idx="1"/>
          </p:nvPr>
        </p:nvSpPr>
        <p:spPr/>
        <p:txBody>
          <a:bodyPr>
            <a:normAutofit fontScale="77500" lnSpcReduction="20000"/>
          </a:bodyPr>
          <a:lstStyle/>
          <a:p>
            <a:r>
              <a:rPr lang="en-US" dirty="0"/>
              <a:t>Happens when there is </a:t>
            </a:r>
            <a:r>
              <a:rPr lang="en-US" b="1" dirty="0"/>
              <a:t>no direct Line-of-Sight (</a:t>
            </a:r>
            <a:r>
              <a:rPr lang="en-US" b="1" dirty="0" err="1"/>
              <a:t>LoS</a:t>
            </a:r>
            <a:r>
              <a:rPr lang="en-US" b="1" dirty="0"/>
              <a:t>)</a:t>
            </a:r>
            <a:r>
              <a:rPr lang="en-US" dirty="0"/>
              <a:t> between transmitter and receiver.</a:t>
            </a:r>
          </a:p>
          <a:p>
            <a:r>
              <a:rPr lang="en-US" dirty="0"/>
              <a:t>Signal reaches through </a:t>
            </a:r>
            <a:r>
              <a:rPr lang="en-US" b="1" dirty="0"/>
              <a:t>reflections, scattering, and diffractions</a:t>
            </a:r>
            <a:r>
              <a:rPr lang="en-US" dirty="0"/>
              <a:t>.</a:t>
            </a:r>
          </a:p>
          <a:p>
            <a:r>
              <a:rPr lang="en-US" dirty="0"/>
              <a:t>The received signal strength keeps changing randomly.</a:t>
            </a:r>
          </a:p>
          <a:p>
            <a:r>
              <a:rPr lang="en-US" b="1" dirty="0"/>
              <a:t>Example</a:t>
            </a:r>
            <a:r>
              <a:rPr lang="en-US" dirty="0"/>
              <a:t>: </a:t>
            </a:r>
          </a:p>
          <a:p>
            <a:r>
              <a:rPr lang="en-US" dirty="0"/>
              <a:t>A mobile user in a city with tall buildings → the signal comes only after bouncing from many buildings (no direct path).</a:t>
            </a:r>
          </a:p>
          <a:p>
            <a:r>
              <a:rPr lang="en-US" dirty="0"/>
              <a:t>You’re on a </a:t>
            </a:r>
            <a:r>
              <a:rPr lang="en-US" b="1" dirty="0"/>
              <a:t>city street between tall buildings</a:t>
            </a:r>
            <a:r>
              <a:rPr lang="en-US" dirty="0"/>
              <a:t> making a phone call. The tower is not visible. Your phone receives </a:t>
            </a:r>
            <a:r>
              <a:rPr lang="en-US" b="1" dirty="0"/>
              <a:t>only reflected</a:t>
            </a:r>
            <a:r>
              <a:rPr lang="en-US" dirty="0"/>
              <a:t> signals → strength </a:t>
            </a:r>
            <a:r>
              <a:rPr lang="en-US" b="1" dirty="0"/>
              <a:t>fluctuates a lot</a:t>
            </a:r>
            <a:r>
              <a:rPr lang="en-US" dirty="0"/>
              <a:t>, sometimes dropping.</a:t>
            </a:r>
          </a:p>
          <a:p>
            <a:endParaRPr lang="en-IN" dirty="0"/>
          </a:p>
        </p:txBody>
      </p:sp>
    </p:spTree>
    <p:extLst>
      <p:ext uri="{BB962C8B-B14F-4D97-AF65-F5344CB8AC3E}">
        <p14:creationId xmlns:p14="http://schemas.microsoft.com/office/powerpoint/2010/main" val="19526925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66130"/>
          </a:xfrm>
        </p:spPr>
        <p:style>
          <a:lnRef idx="2">
            <a:schemeClr val="accent5"/>
          </a:lnRef>
          <a:fillRef idx="1">
            <a:schemeClr val="lt1"/>
          </a:fillRef>
          <a:effectRef idx="0">
            <a:schemeClr val="accent5"/>
          </a:effectRef>
          <a:fontRef idx="minor">
            <a:schemeClr val="dk1"/>
          </a:fontRef>
        </p:style>
        <p:txBody>
          <a:bodyPr/>
          <a:lstStyle/>
          <a:p>
            <a:r>
              <a:rPr lang="en-US" b="1" dirty="0" err="1">
                <a:solidFill>
                  <a:srgbClr val="0070C0"/>
                </a:solidFill>
                <a:latin typeface="Times New Roman" pitchFamily="18" charset="0"/>
                <a:cs typeface="Times New Roman" pitchFamily="18" charset="0"/>
              </a:rPr>
              <a:t>Rician</a:t>
            </a:r>
            <a:r>
              <a:rPr lang="en-US" b="1" dirty="0">
                <a:solidFill>
                  <a:srgbClr val="0070C0"/>
                </a:solidFill>
                <a:latin typeface="Times New Roman" pitchFamily="18" charset="0"/>
                <a:cs typeface="Times New Roman" pitchFamily="18" charset="0"/>
              </a:rPr>
              <a:t> Fading Channel</a:t>
            </a:r>
            <a:endParaRPr lang="en-IN"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20000"/>
          </a:bodyPr>
          <a:lstStyle/>
          <a:p>
            <a:r>
              <a:rPr lang="en-US" dirty="0">
                <a:latin typeface="Times New Roman" pitchFamily="18" charset="0"/>
                <a:cs typeface="Times New Roman" pitchFamily="18" charset="0"/>
              </a:rPr>
              <a:t>Happens when there </a:t>
            </a:r>
            <a:r>
              <a:rPr lang="en-US" b="1" dirty="0">
                <a:latin typeface="Times New Roman" pitchFamily="18" charset="0"/>
                <a:cs typeface="Times New Roman" pitchFamily="18" charset="0"/>
              </a:rPr>
              <a:t>is a direct Line-of-Sight (</a:t>
            </a:r>
            <a:r>
              <a:rPr lang="en-US" b="1" dirty="0" err="1">
                <a:latin typeface="Times New Roman" pitchFamily="18" charset="0"/>
                <a:cs typeface="Times New Roman" pitchFamily="18" charset="0"/>
              </a:rPr>
              <a:t>LoS</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path </a:t>
            </a:r>
            <a:r>
              <a:rPr lang="en-US" b="1" dirty="0">
                <a:latin typeface="Times New Roman" pitchFamily="18" charset="0"/>
                <a:cs typeface="Times New Roman" pitchFamily="18" charset="0"/>
              </a:rPr>
              <a:t>plus</a:t>
            </a:r>
            <a:r>
              <a:rPr lang="en-US" dirty="0">
                <a:latin typeface="Times New Roman" pitchFamily="18" charset="0"/>
                <a:cs typeface="Times New Roman" pitchFamily="18" charset="0"/>
              </a:rPr>
              <a:t> many reflected/scattered paths.</a:t>
            </a:r>
          </a:p>
          <a:p>
            <a:r>
              <a:rPr lang="en-US" dirty="0">
                <a:latin typeface="Times New Roman" pitchFamily="18" charset="0"/>
                <a:cs typeface="Times New Roman" pitchFamily="18" charset="0"/>
              </a:rPr>
              <a:t>The direct signal is usually stronger, so fading is less severe compared to Rayleigh.</a:t>
            </a:r>
          </a:p>
          <a:p>
            <a:r>
              <a:rPr lang="en-US" b="1" dirty="0">
                <a:latin typeface="Times New Roman" pitchFamily="18" charset="0"/>
                <a:cs typeface="Times New Roman" pitchFamily="18" charset="0"/>
              </a:rPr>
              <a:t>Example</a:t>
            </a:r>
            <a:r>
              <a:rPr lang="en-US" dirty="0">
                <a:latin typeface="Times New Roman" pitchFamily="18" charset="0"/>
                <a:cs typeface="Times New Roman" pitchFamily="18" charset="0"/>
              </a:rPr>
              <a:t>: </a:t>
            </a:r>
          </a:p>
          <a:p>
            <a:r>
              <a:rPr lang="en-US" dirty="0">
                <a:latin typeface="Times New Roman" pitchFamily="18" charset="0"/>
                <a:cs typeface="Times New Roman" pitchFamily="18" charset="0"/>
              </a:rPr>
              <a:t>A mobile user in an open area where the tower is visible, but still some reflections from trees or cars exist.</a:t>
            </a:r>
          </a:p>
          <a:p>
            <a:r>
              <a:rPr lang="en-US" dirty="0">
                <a:latin typeface="Times New Roman" pitchFamily="18" charset="0"/>
                <a:cs typeface="Times New Roman" pitchFamily="18" charset="0"/>
              </a:rPr>
              <a:t>You’re on a video call in an open ground where the tower is visible. Your phone gets a clear direct signal plus a few small reflections → signal is more stable and quality is better.</a:t>
            </a:r>
          </a:p>
        </p:txBody>
      </p:sp>
    </p:spTree>
    <p:extLst>
      <p:ext uri="{BB962C8B-B14F-4D97-AF65-F5344CB8AC3E}">
        <p14:creationId xmlns:p14="http://schemas.microsoft.com/office/powerpoint/2010/main" val="3757808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chemeClr val="accent6">
                    <a:lumMod val="75000"/>
                  </a:schemeClr>
                </a:solidFill>
                <a:latin typeface="Times New Roman" pitchFamily="18" charset="0"/>
                <a:cs typeface="Times New Roman" pitchFamily="18" charset="0"/>
              </a:rPr>
              <a:t>Rayleigh distribution and </a:t>
            </a:r>
            <a:r>
              <a:rPr lang="en-US" sz="2800" b="1" dirty="0" err="1">
                <a:solidFill>
                  <a:schemeClr val="accent6">
                    <a:lumMod val="75000"/>
                  </a:schemeClr>
                </a:solidFill>
                <a:latin typeface="Times New Roman" pitchFamily="18" charset="0"/>
                <a:cs typeface="Times New Roman" pitchFamily="18" charset="0"/>
              </a:rPr>
              <a:t>Rician</a:t>
            </a:r>
            <a:r>
              <a:rPr lang="en-US" sz="2800" b="1" dirty="0">
                <a:solidFill>
                  <a:schemeClr val="accent6">
                    <a:lumMod val="75000"/>
                  </a:schemeClr>
                </a:solidFill>
                <a:latin typeface="Times New Roman" pitchFamily="18" charset="0"/>
                <a:cs typeface="Times New Roman" pitchFamily="18" charset="0"/>
              </a:rPr>
              <a:t> distribution</a:t>
            </a:r>
            <a:endParaRPr lang="en-IN" sz="2800" b="1" dirty="0">
              <a:solidFill>
                <a:schemeClr val="accent6">
                  <a:lumMod val="75000"/>
                </a:schemeClr>
              </a:solidFill>
              <a:latin typeface="Times New Roman" pitchFamily="18" charset="0"/>
              <a:cs typeface="Times New Roman" pitchFamily="18" charset="0"/>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9592" y="1268760"/>
            <a:ext cx="7124008" cy="4857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9336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style>
          <a:lnRef idx="2">
            <a:schemeClr val="accent5"/>
          </a:lnRef>
          <a:fillRef idx="1">
            <a:schemeClr val="lt1"/>
          </a:fillRef>
          <a:effectRef idx="0">
            <a:schemeClr val="accent5"/>
          </a:effectRef>
          <a:fontRef idx="minor">
            <a:schemeClr val="dk1"/>
          </a:fontRef>
        </p:style>
        <p:txBody>
          <a:bodyPr>
            <a:noAutofit/>
          </a:bodyPr>
          <a:lstStyle/>
          <a:p>
            <a:r>
              <a:rPr lang="en-US" sz="3200" b="1" dirty="0">
                <a:solidFill>
                  <a:schemeClr val="accent6">
                    <a:lumMod val="75000"/>
                  </a:schemeClr>
                </a:solidFill>
                <a:latin typeface="Times New Roman" pitchFamily="18" charset="0"/>
                <a:cs typeface="Times New Roman" pitchFamily="18" charset="0"/>
              </a:rPr>
              <a:t>Rayleigh distribution and </a:t>
            </a:r>
            <a:r>
              <a:rPr lang="en-US" sz="3200" b="1" dirty="0" err="1">
                <a:solidFill>
                  <a:schemeClr val="accent6">
                    <a:lumMod val="75000"/>
                  </a:schemeClr>
                </a:solidFill>
                <a:latin typeface="Times New Roman" pitchFamily="18" charset="0"/>
                <a:cs typeface="Times New Roman" pitchFamily="18" charset="0"/>
              </a:rPr>
              <a:t>Rician</a:t>
            </a:r>
            <a:r>
              <a:rPr lang="en-US" sz="3200" b="1" dirty="0">
                <a:solidFill>
                  <a:schemeClr val="accent6">
                    <a:lumMod val="75000"/>
                  </a:schemeClr>
                </a:solidFill>
                <a:latin typeface="Times New Roman" pitchFamily="18" charset="0"/>
                <a:cs typeface="Times New Roman" pitchFamily="18" charset="0"/>
              </a:rPr>
              <a:t> distribution</a:t>
            </a:r>
            <a:endParaRPr lang="en-IN" sz="3200" dirty="0"/>
          </a:p>
        </p:txBody>
      </p:sp>
      <p:sp>
        <p:nvSpPr>
          <p:cNvPr id="3" name="Content Placeholder 2"/>
          <p:cNvSpPr>
            <a:spLocks noGrp="1"/>
          </p:cNvSpPr>
          <p:nvPr>
            <p:ph idx="1"/>
          </p:nvPr>
        </p:nvSpPr>
        <p:spPr>
          <a:xfrm>
            <a:off x="457200" y="1268760"/>
            <a:ext cx="8229600" cy="4857403"/>
          </a:xfrm>
        </p:spPr>
        <p:txBody>
          <a:bodyPr>
            <a:normAutofit fontScale="70000" lnSpcReduction="20000"/>
          </a:bodyPr>
          <a:lstStyle/>
          <a:p>
            <a:r>
              <a:rPr lang="en-US" b="1" dirty="0">
                <a:latin typeface="Times New Roman" pitchFamily="18" charset="0"/>
                <a:cs typeface="Times New Roman" pitchFamily="18" charset="0"/>
              </a:rPr>
              <a:t>Blue curve (Rayleigh Distribution)</a:t>
            </a:r>
            <a:endParaRPr lang="en-US" dirty="0">
              <a:latin typeface="Times New Roman" pitchFamily="18" charset="0"/>
              <a:cs typeface="Times New Roman" pitchFamily="18" charset="0"/>
            </a:endParaRPr>
          </a:p>
          <a:p>
            <a:pPr lvl="1"/>
            <a:r>
              <a:rPr lang="en-US" dirty="0">
                <a:latin typeface="Times New Roman" pitchFamily="18" charset="0"/>
                <a:cs typeface="Times New Roman" pitchFamily="18" charset="0"/>
              </a:rPr>
              <a:t>Used when </a:t>
            </a:r>
            <a:r>
              <a:rPr lang="en-US" b="1" dirty="0">
                <a:latin typeface="Times New Roman" pitchFamily="18" charset="0"/>
                <a:cs typeface="Times New Roman" pitchFamily="18" charset="0"/>
              </a:rPr>
              <a:t>no direct path</a:t>
            </a:r>
            <a:r>
              <a:rPr lang="en-US" dirty="0">
                <a:latin typeface="Times New Roman" pitchFamily="18" charset="0"/>
                <a:cs typeface="Times New Roman" pitchFamily="18" charset="0"/>
              </a:rPr>
              <a:t> exists.</a:t>
            </a:r>
          </a:p>
          <a:p>
            <a:pPr lvl="1"/>
            <a:r>
              <a:rPr lang="en-US" dirty="0">
                <a:latin typeface="Times New Roman" pitchFamily="18" charset="0"/>
                <a:cs typeface="Times New Roman" pitchFamily="18" charset="0"/>
              </a:rPr>
              <a:t>Signal comes only from reflections → random, centered near small amplitudes.</a:t>
            </a:r>
          </a:p>
          <a:p>
            <a:r>
              <a:rPr lang="en-US" b="1" dirty="0">
                <a:latin typeface="Times New Roman" pitchFamily="18" charset="0"/>
                <a:cs typeface="Times New Roman" pitchFamily="18" charset="0"/>
              </a:rPr>
              <a:t>Green curve (</a:t>
            </a:r>
            <a:r>
              <a:rPr lang="en-US" b="1" dirty="0" err="1">
                <a:latin typeface="Times New Roman" pitchFamily="18" charset="0"/>
                <a:cs typeface="Times New Roman" pitchFamily="18" charset="0"/>
              </a:rPr>
              <a:t>Rician</a:t>
            </a:r>
            <a:r>
              <a:rPr lang="en-US" b="1" dirty="0">
                <a:latin typeface="Times New Roman" pitchFamily="18" charset="0"/>
                <a:cs typeface="Times New Roman" pitchFamily="18" charset="0"/>
              </a:rPr>
              <a:t> with weak direct path)</a:t>
            </a:r>
            <a:endParaRPr lang="en-US" dirty="0">
              <a:latin typeface="Times New Roman" pitchFamily="18" charset="0"/>
              <a:cs typeface="Times New Roman" pitchFamily="18" charset="0"/>
            </a:endParaRPr>
          </a:p>
          <a:p>
            <a:pPr lvl="1"/>
            <a:r>
              <a:rPr lang="en-US" dirty="0">
                <a:latin typeface="Times New Roman" pitchFamily="18" charset="0"/>
                <a:cs typeface="Times New Roman" pitchFamily="18" charset="0"/>
              </a:rPr>
              <a:t>Direct path exists, but is weak.</a:t>
            </a:r>
          </a:p>
          <a:p>
            <a:pPr lvl="1"/>
            <a:r>
              <a:rPr lang="en-US" dirty="0">
                <a:latin typeface="Times New Roman" pitchFamily="18" charset="0"/>
                <a:cs typeface="Times New Roman" pitchFamily="18" charset="0"/>
              </a:rPr>
              <a:t>Shape is </a:t>
            </a:r>
            <a:r>
              <a:rPr lang="en-US" b="1" dirty="0">
                <a:latin typeface="Times New Roman" pitchFamily="18" charset="0"/>
                <a:cs typeface="Times New Roman" pitchFamily="18" charset="0"/>
              </a:rPr>
              <a:t>close to Rayleigh</a:t>
            </a:r>
            <a:r>
              <a:rPr lang="en-US" dirty="0">
                <a:latin typeface="Times New Roman" pitchFamily="18" charset="0"/>
                <a:cs typeface="Times New Roman" pitchFamily="18" charset="0"/>
              </a:rPr>
              <a:t>, but slightly shifted.</a:t>
            </a:r>
          </a:p>
          <a:p>
            <a:r>
              <a:rPr lang="en-US" b="1" dirty="0">
                <a:latin typeface="Times New Roman" pitchFamily="18" charset="0"/>
                <a:cs typeface="Times New Roman" pitchFamily="18" charset="0"/>
              </a:rPr>
              <a:t>Red curve (</a:t>
            </a:r>
            <a:r>
              <a:rPr lang="en-US" b="1" dirty="0" err="1">
                <a:latin typeface="Times New Roman" pitchFamily="18" charset="0"/>
                <a:cs typeface="Times New Roman" pitchFamily="18" charset="0"/>
              </a:rPr>
              <a:t>Rician</a:t>
            </a:r>
            <a:r>
              <a:rPr lang="en-US" b="1" dirty="0">
                <a:latin typeface="Times New Roman" pitchFamily="18" charset="0"/>
                <a:cs typeface="Times New Roman" pitchFamily="18" charset="0"/>
              </a:rPr>
              <a:t> with strong direct path)</a:t>
            </a:r>
            <a:endParaRPr lang="en-US" dirty="0">
              <a:latin typeface="Times New Roman" pitchFamily="18" charset="0"/>
              <a:cs typeface="Times New Roman" pitchFamily="18" charset="0"/>
            </a:endParaRPr>
          </a:p>
          <a:p>
            <a:pPr lvl="1"/>
            <a:r>
              <a:rPr lang="en-US" dirty="0">
                <a:latin typeface="Times New Roman" pitchFamily="18" charset="0"/>
                <a:cs typeface="Times New Roman" pitchFamily="18" charset="0"/>
              </a:rPr>
              <a:t>Direct path is strong.</a:t>
            </a:r>
          </a:p>
          <a:p>
            <a:pPr lvl="1"/>
            <a:r>
              <a:rPr lang="en-US" dirty="0">
                <a:latin typeface="Times New Roman" pitchFamily="18" charset="0"/>
                <a:cs typeface="Times New Roman" pitchFamily="18" charset="0"/>
              </a:rPr>
              <a:t>The distribution shifts toward </a:t>
            </a:r>
            <a:r>
              <a:rPr lang="en-US" b="1" dirty="0">
                <a:latin typeface="Times New Roman" pitchFamily="18" charset="0"/>
                <a:cs typeface="Times New Roman" pitchFamily="18" charset="0"/>
              </a:rPr>
              <a:t>higher amplitudes</a:t>
            </a:r>
            <a:r>
              <a:rPr lang="en-US" dirty="0">
                <a:latin typeface="Times New Roman" pitchFamily="18" charset="0"/>
                <a:cs typeface="Times New Roman" pitchFamily="18" charset="0"/>
              </a:rPr>
              <a:t> (more stable and stronger signal).</a:t>
            </a:r>
          </a:p>
          <a:p>
            <a:pPr marL="457200" lvl="1" indent="0">
              <a:buNone/>
            </a:pPr>
            <a:endParaRPr lang="en-US" dirty="0">
              <a:latin typeface="Times New Roman" pitchFamily="18" charset="0"/>
              <a:cs typeface="Times New Roman" pitchFamily="18" charset="0"/>
            </a:endParaRPr>
          </a:p>
          <a:p>
            <a:r>
              <a:rPr lang="en-US" b="1" dirty="0">
                <a:latin typeface="Times New Roman" pitchFamily="18" charset="0"/>
                <a:cs typeface="Times New Roman" pitchFamily="18" charset="0"/>
              </a:rPr>
              <a:t>Rayleigh = no direct signal → weaker, random.</a:t>
            </a:r>
            <a:endParaRPr lang="en-US" dirty="0">
              <a:latin typeface="Times New Roman" pitchFamily="18" charset="0"/>
              <a:cs typeface="Times New Roman" pitchFamily="18" charset="0"/>
            </a:endParaRPr>
          </a:p>
          <a:p>
            <a:r>
              <a:rPr lang="en-US" b="1" dirty="0" err="1">
                <a:latin typeface="Times New Roman" pitchFamily="18" charset="0"/>
                <a:cs typeface="Times New Roman" pitchFamily="18" charset="0"/>
              </a:rPr>
              <a:t>Rician</a:t>
            </a:r>
            <a:r>
              <a:rPr lang="en-US" b="1" dirty="0">
                <a:latin typeface="Times New Roman" pitchFamily="18" charset="0"/>
                <a:cs typeface="Times New Roman" pitchFamily="18" charset="0"/>
              </a:rPr>
              <a:t> = direct signal + reflections → stronger, more stable.</a:t>
            </a:r>
            <a:endParaRPr lang="en-US" dirty="0">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4385646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29600" cy="994122"/>
          </a:xfrm>
        </p:spPr>
        <p:txBody>
          <a:bodyPr/>
          <a:lstStyle/>
          <a:p>
            <a:r>
              <a:rPr lang="en-IN" b="1" dirty="0">
                <a:solidFill>
                  <a:srgbClr val="0070C0"/>
                </a:solidFill>
                <a:latin typeface="Times New Roman" pitchFamily="18" charset="0"/>
                <a:cs typeface="Times New Roman" pitchFamily="18" charset="0"/>
              </a:rPr>
              <a:t>Fading Channel Types</a:t>
            </a: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7528" y="1600200"/>
            <a:ext cx="6788944" cy="45259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6931514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style>
          <a:lnRef idx="2">
            <a:schemeClr val="accent3"/>
          </a:lnRef>
          <a:fillRef idx="1">
            <a:schemeClr val="lt1"/>
          </a:fillRef>
          <a:effectRef idx="0">
            <a:schemeClr val="accent3"/>
          </a:effectRef>
          <a:fontRef idx="minor">
            <a:schemeClr val="dk1"/>
          </a:fontRef>
        </p:style>
        <p:txBody>
          <a:bodyPr>
            <a:normAutofit fontScale="90000"/>
          </a:bodyPr>
          <a:lstStyle/>
          <a:p>
            <a:br>
              <a:rPr lang="en-US" b="1" dirty="0">
                <a:solidFill>
                  <a:srgbClr val="00B0F0"/>
                </a:solidFill>
                <a:latin typeface="Times New Roman" pitchFamily="18" charset="0"/>
                <a:cs typeface="Times New Roman" pitchFamily="18" charset="0"/>
              </a:rPr>
            </a:br>
            <a:r>
              <a:rPr lang="en-US" b="1" dirty="0">
                <a:solidFill>
                  <a:srgbClr val="00B0F0"/>
                </a:solidFill>
                <a:latin typeface="Times New Roman" pitchFamily="18" charset="0"/>
                <a:cs typeface="Times New Roman" pitchFamily="18" charset="0"/>
              </a:rPr>
              <a:t>Rayleigh Fading Channel diagram</a:t>
            </a:r>
            <a:br>
              <a:rPr lang="en-US" b="1" dirty="0">
                <a:solidFill>
                  <a:srgbClr val="00B0F0"/>
                </a:solidFill>
                <a:latin typeface="Times New Roman" pitchFamily="18" charset="0"/>
                <a:cs typeface="Times New Roman" pitchFamily="18" charset="0"/>
              </a:rPr>
            </a:br>
            <a:endParaRPr lang="en-IN" dirty="0">
              <a:solidFill>
                <a:srgbClr val="00B0F0"/>
              </a:solidFill>
              <a:latin typeface="Times New Roman" pitchFamily="18" charset="0"/>
              <a:cs typeface="Times New Roman" pitchFamily="18" charset="0"/>
            </a:endParaRPr>
          </a:p>
        </p:txBody>
      </p:sp>
      <p:sp>
        <p:nvSpPr>
          <p:cNvPr id="3" name="Content Placeholder 2"/>
          <p:cNvSpPr>
            <a:spLocks noGrp="1"/>
          </p:cNvSpPr>
          <p:nvPr>
            <p:ph idx="1"/>
          </p:nvPr>
        </p:nvSpPr>
        <p:spPr>
          <a:xfrm>
            <a:off x="539552" y="1268760"/>
            <a:ext cx="8229600" cy="4785395"/>
          </a:xfrm>
        </p:spPr>
        <p:txBody>
          <a:bodyPr>
            <a:normAutofit/>
          </a:bodyPr>
          <a:lstStyle/>
          <a:p>
            <a:r>
              <a:rPr lang="en-US" dirty="0">
                <a:latin typeface="Times New Roman" pitchFamily="18" charset="0"/>
                <a:cs typeface="Times New Roman" pitchFamily="18" charset="0"/>
              </a:rPr>
              <a:t>The signal from the tower </a:t>
            </a:r>
            <a:r>
              <a:rPr lang="en-US" b="1" dirty="0">
                <a:latin typeface="Times New Roman" pitchFamily="18" charset="0"/>
                <a:cs typeface="Times New Roman" pitchFamily="18" charset="0"/>
              </a:rPr>
              <a:t>does not reach directly</a:t>
            </a:r>
            <a:r>
              <a:rPr lang="en-US" dirty="0">
                <a:latin typeface="Times New Roman" pitchFamily="18" charset="0"/>
                <a:cs typeface="Times New Roman" pitchFamily="18" charset="0"/>
              </a:rPr>
              <a:t> to the phone.</a:t>
            </a:r>
          </a:p>
          <a:p>
            <a:r>
              <a:rPr lang="en-US" dirty="0">
                <a:latin typeface="Times New Roman" pitchFamily="18" charset="0"/>
                <a:cs typeface="Times New Roman" pitchFamily="18" charset="0"/>
              </a:rPr>
              <a:t>It only comes after </a:t>
            </a:r>
            <a:r>
              <a:rPr lang="en-US" b="1" dirty="0">
                <a:latin typeface="Times New Roman" pitchFamily="18" charset="0"/>
                <a:cs typeface="Times New Roman" pitchFamily="18" charset="0"/>
              </a:rPr>
              <a:t>bouncing (multipath)</a:t>
            </a:r>
            <a:r>
              <a:rPr lang="en-US" dirty="0">
                <a:latin typeface="Times New Roman" pitchFamily="18" charset="0"/>
                <a:cs typeface="Times New Roman" pitchFamily="18" charset="0"/>
              </a:rPr>
              <a:t> from buildings, clouds, etc.</a:t>
            </a:r>
          </a:p>
          <a:p>
            <a:r>
              <a:rPr lang="en-US" dirty="0">
                <a:latin typeface="Times New Roman" pitchFamily="18" charset="0"/>
                <a:cs typeface="Times New Roman" pitchFamily="18" charset="0"/>
              </a:rPr>
              <a:t>So, the signal strength keeps </a:t>
            </a:r>
            <a:r>
              <a:rPr lang="en-US" b="1" dirty="0">
                <a:latin typeface="Times New Roman" pitchFamily="18" charset="0"/>
                <a:cs typeface="Times New Roman" pitchFamily="18" charset="0"/>
              </a:rPr>
              <a:t>changing a lot</a:t>
            </a:r>
            <a:r>
              <a:rPr lang="en-US" dirty="0">
                <a:latin typeface="Times New Roman" pitchFamily="18" charset="0"/>
                <a:cs typeface="Times New Roman" pitchFamily="18" charset="0"/>
              </a:rPr>
              <a:t> → can be weak or strong depending on reflections.</a:t>
            </a:r>
          </a:p>
          <a:p>
            <a:r>
              <a:rPr lang="en-US" b="1" dirty="0">
                <a:latin typeface="Times New Roman" pitchFamily="18" charset="0"/>
                <a:cs typeface="Times New Roman" pitchFamily="18" charset="0"/>
              </a:rPr>
              <a:t>Example</a:t>
            </a:r>
            <a:r>
              <a:rPr lang="en-US" dirty="0">
                <a:latin typeface="Times New Roman" pitchFamily="18" charset="0"/>
                <a:cs typeface="Times New Roman" pitchFamily="18" charset="0"/>
              </a:rPr>
              <a:t>: In a crowded city with tall buildings where the tower is not visible.</a:t>
            </a:r>
          </a:p>
          <a:p>
            <a:endParaRPr lang="en-IN" dirty="0"/>
          </a:p>
        </p:txBody>
      </p:sp>
    </p:spTree>
    <p:extLst>
      <p:ext uri="{BB962C8B-B14F-4D97-AF65-F5344CB8AC3E}">
        <p14:creationId xmlns:p14="http://schemas.microsoft.com/office/powerpoint/2010/main" val="19219680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2074"/>
          </a:xfrm>
        </p:spPr>
        <p:style>
          <a:lnRef idx="2">
            <a:schemeClr val="accent3"/>
          </a:lnRef>
          <a:fillRef idx="1">
            <a:schemeClr val="lt1"/>
          </a:fillRef>
          <a:effectRef idx="0">
            <a:schemeClr val="accent3"/>
          </a:effectRef>
          <a:fontRef idx="minor">
            <a:schemeClr val="dk1"/>
          </a:fontRef>
        </p:style>
        <p:txBody>
          <a:bodyPr>
            <a:normAutofit fontScale="90000"/>
          </a:bodyPr>
          <a:lstStyle/>
          <a:p>
            <a:br>
              <a:rPr lang="en-US" b="1" dirty="0">
                <a:solidFill>
                  <a:srgbClr val="0070C0"/>
                </a:solidFill>
                <a:latin typeface="Times New Roman" pitchFamily="18" charset="0"/>
                <a:cs typeface="Times New Roman" pitchFamily="18" charset="0"/>
              </a:rPr>
            </a:br>
            <a:r>
              <a:rPr lang="en-US" b="1" dirty="0">
                <a:solidFill>
                  <a:srgbClr val="0070C0"/>
                </a:solidFill>
                <a:latin typeface="Times New Roman" pitchFamily="18" charset="0"/>
                <a:cs typeface="Times New Roman" pitchFamily="18" charset="0"/>
              </a:rPr>
              <a:t>Rician Fading Channel diagram</a:t>
            </a:r>
            <a:br>
              <a:rPr lang="en-US" b="1" dirty="0">
                <a:solidFill>
                  <a:srgbClr val="0070C0"/>
                </a:solidFill>
                <a:latin typeface="Times New Roman" pitchFamily="18" charset="0"/>
                <a:cs typeface="Times New Roman" pitchFamily="18" charset="0"/>
              </a:rPr>
            </a:br>
            <a:endParaRPr lang="en-IN"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124744"/>
            <a:ext cx="8229600" cy="5112568"/>
          </a:xfrm>
        </p:spPr>
        <p:txBody>
          <a:bodyPr>
            <a:normAutofit fontScale="92500" lnSpcReduction="20000"/>
          </a:bodyPr>
          <a:lstStyle/>
          <a:p>
            <a:r>
              <a:rPr lang="en-US" dirty="0">
                <a:latin typeface="Times New Roman" pitchFamily="18" charset="0"/>
                <a:cs typeface="Times New Roman" pitchFamily="18" charset="0"/>
              </a:rPr>
              <a:t>The signal from the tower </a:t>
            </a:r>
            <a:r>
              <a:rPr lang="en-US" b="1" dirty="0">
                <a:latin typeface="Times New Roman" pitchFamily="18" charset="0"/>
                <a:cs typeface="Times New Roman" pitchFamily="18" charset="0"/>
              </a:rPr>
              <a:t>has a direct path</a:t>
            </a:r>
            <a:r>
              <a:rPr lang="en-US" dirty="0">
                <a:latin typeface="Times New Roman" pitchFamily="18" charset="0"/>
                <a:cs typeface="Times New Roman" pitchFamily="18" charset="0"/>
              </a:rPr>
              <a:t> to the phone.</a:t>
            </a:r>
          </a:p>
          <a:p>
            <a:r>
              <a:rPr lang="en-US" dirty="0">
                <a:latin typeface="Times New Roman" pitchFamily="18" charset="0"/>
                <a:cs typeface="Times New Roman" pitchFamily="18" charset="0"/>
              </a:rPr>
              <a:t>Along with the direct path, there are also </a:t>
            </a:r>
            <a:r>
              <a:rPr lang="en-US" b="1" dirty="0">
                <a:latin typeface="Times New Roman" pitchFamily="18" charset="0"/>
                <a:cs typeface="Times New Roman" pitchFamily="18" charset="0"/>
              </a:rPr>
              <a:t>reflected signals (multipath)</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The direct path makes the signal </a:t>
            </a:r>
            <a:r>
              <a:rPr lang="en-US" b="1" dirty="0">
                <a:latin typeface="Times New Roman" pitchFamily="18" charset="0"/>
                <a:cs typeface="Times New Roman" pitchFamily="18" charset="0"/>
              </a:rPr>
              <a:t>more stable</a:t>
            </a:r>
            <a:r>
              <a:rPr lang="en-US" dirty="0">
                <a:latin typeface="Times New Roman" pitchFamily="18" charset="0"/>
                <a:cs typeface="Times New Roman" pitchFamily="18" charset="0"/>
              </a:rPr>
              <a:t> compared to Rayleigh fading.</a:t>
            </a:r>
          </a:p>
          <a:p>
            <a:r>
              <a:rPr lang="en-US" b="1" dirty="0">
                <a:latin typeface="Times New Roman" pitchFamily="18" charset="0"/>
                <a:cs typeface="Times New Roman" pitchFamily="18" charset="0"/>
              </a:rPr>
              <a:t>Example</a:t>
            </a:r>
            <a:r>
              <a:rPr lang="en-US" dirty="0">
                <a:latin typeface="Times New Roman" pitchFamily="18" charset="0"/>
                <a:cs typeface="Times New Roman" pitchFamily="18" charset="0"/>
              </a:rPr>
              <a:t>: In an open area where you can see the tower, but still some reflections from trees or cars exist.</a:t>
            </a:r>
          </a:p>
          <a:p>
            <a:pPr marL="0" indent="0">
              <a:buNone/>
            </a:pPr>
            <a:r>
              <a:rPr lang="en-US" b="1" dirty="0">
                <a:solidFill>
                  <a:schemeClr val="accent6">
                    <a:lumMod val="75000"/>
                  </a:schemeClr>
                </a:solidFill>
                <a:latin typeface="Times New Roman" pitchFamily="18" charset="0"/>
                <a:cs typeface="Times New Roman" pitchFamily="18" charset="0"/>
              </a:rPr>
              <a:t>In short:</a:t>
            </a:r>
          </a:p>
          <a:p>
            <a:r>
              <a:rPr lang="en-US" b="1" dirty="0">
                <a:latin typeface="Times New Roman" pitchFamily="18" charset="0"/>
                <a:cs typeface="Times New Roman" pitchFamily="18" charset="0"/>
              </a:rPr>
              <a:t>Rayleigh = only multipath, no direct signal.</a:t>
            </a:r>
            <a:endParaRPr lang="en-US" dirty="0">
              <a:latin typeface="Times New Roman" pitchFamily="18" charset="0"/>
              <a:cs typeface="Times New Roman" pitchFamily="18" charset="0"/>
            </a:endParaRPr>
          </a:p>
          <a:p>
            <a:r>
              <a:rPr lang="en-US" b="1" dirty="0" err="1">
                <a:latin typeface="Times New Roman" pitchFamily="18" charset="0"/>
                <a:cs typeface="Times New Roman" pitchFamily="18" charset="0"/>
              </a:rPr>
              <a:t>Rician</a:t>
            </a:r>
            <a:r>
              <a:rPr lang="en-US" b="1" dirty="0">
                <a:latin typeface="Times New Roman" pitchFamily="18" charset="0"/>
                <a:cs typeface="Times New Roman" pitchFamily="18" charset="0"/>
              </a:rPr>
              <a:t> = direct signal + multipath.</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3562465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665827882"/>
              </p:ext>
            </p:extLst>
          </p:nvPr>
        </p:nvGraphicFramePr>
        <p:xfrm>
          <a:off x="457200" y="764703"/>
          <a:ext cx="8229600" cy="5338758"/>
        </p:xfrm>
        <a:graphic>
          <a:graphicData uri="http://schemas.openxmlformats.org/drawingml/2006/table">
            <a:tbl>
              <a:tblPr>
                <a:tableStyleId>{3C2FFA5D-87B4-456A-9821-1D502468CF0F}</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35817">
                <a:tc>
                  <a:txBody>
                    <a:bodyPr/>
                    <a:lstStyle/>
                    <a:p>
                      <a:r>
                        <a:rPr lang="en-IN" b="1" dirty="0">
                          <a:latin typeface="Times New Roman" pitchFamily="18" charset="0"/>
                          <a:cs typeface="Times New Roman" pitchFamily="18" charset="0"/>
                        </a:rPr>
                        <a:t>Feature</a:t>
                      </a:r>
                    </a:p>
                  </a:txBody>
                  <a:tcPr anchor="ctr"/>
                </a:tc>
                <a:tc>
                  <a:txBody>
                    <a:bodyPr/>
                    <a:lstStyle/>
                    <a:p>
                      <a:r>
                        <a:rPr lang="en-IN" b="1" dirty="0">
                          <a:latin typeface="Times New Roman" pitchFamily="18" charset="0"/>
                          <a:cs typeface="Times New Roman" pitchFamily="18" charset="0"/>
                        </a:rPr>
                        <a:t>Rayleigh Fading</a:t>
                      </a:r>
                    </a:p>
                  </a:txBody>
                  <a:tcPr anchor="ctr"/>
                </a:tc>
                <a:tc>
                  <a:txBody>
                    <a:bodyPr/>
                    <a:lstStyle/>
                    <a:p>
                      <a:r>
                        <a:rPr lang="en-IN" b="1" dirty="0">
                          <a:latin typeface="Times New Roman" pitchFamily="18" charset="0"/>
                          <a:cs typeface="Times New Roman" pitchFamily="18" charset="0"/>
                        </a:rPr>
                        <a:t>Rician Fading</a:t>
                      </a:r>
                    </a:p>
                  </a:txBody>
                  <a:tcPr anchor="ctr"/>
                </a:tc>
                <a:extLst>
                  <a:ext uri="{0D108BD9-81ED-4DB2-BD59-A6C34878D82A}">
                    <a16:rowId xmlns:a16="http://schemas.microsoft.com/office/drawing/2014/main" val="10000"/>
                  </a:ext>
                </a:extLst>
              </a:tr>
              <a:tr h="762680">
                <a:tc>
                  <a:txBody>
                    <a:bodyPr/>
                    <a:lstStyle/>
                    <a:p>
                      <a:r>
                        <a:rPr lang="en-IN" dirty="0">
                          <a:latin typeface="Times New Roman" pitchFamily="18" charset="0"/>
                          <a:cs typeface="Times New Roman" pitchFamily="18" charset="0"/>
                        </a:rPr>
                        <a:t>LOS Path</a:t>
                      </a:r>
                    </a:p>
                  </a:txBody>
                  <a:tcPr anchor="ctr"/>
                </a:tc>
                <a:tc>
                  <a:txBody>
                    <a:bodyPr/>
                    <a:lstStyle/>
                    <a:p>
                      <a:r>
                        <a:rPr lang="en-IN" dirty="0">
                          <a:latin typeface="Times New Roman" pitchFamily="18" charset="0"/>
                          <a:cs typeface="Times New Roman" pitchFamily="18" charset="0"/>
                        </a:rPr>
                        <a:t>No line-of-sight (only reflections)</a:t>
                      </a:r>
                    </a:p>
                  </a:txBody>
                  <a:tcPr anchor="ctr"/>
                </a:tc>
                <a:tc>
                  <a:txBody>
                    <a:bodyPr/>
                    <a:lstStyle/>
                    <a:p>
                      <a:r>
                        <a:rPr lang="en-IN">
                          <a:latin typeface="Times New Roman" pitchFamily="18" charset="0"/>
                          <a:cs typeface="Times New Roman" pitchFamily="18" charset="0"/>
                        </a:rPr>
                        <a:t>Strong line-of-sight + reflections</a:t>
                      </a:r>
                    </a:p>
                  </a:txBody>
                  <a:tcPr anchor="ctr"/>
                </a:tc>
                <a:extLst>
                  <a:ext uri="{0D108BD9-81ED-4DB2-BD59-A6C34878D82A}">
                    <a16:rowId xmlns:a16="http://schemas.microsoft.com/office/drawing/2014/main" val="10001"/>
                  </a:ext>
                </a:extLst>
              </a:tr>
              <a:tr h="1089542">
                <a:tc>
                  <a:txBody>
                    <a:bodyPr/>
                    <a:lstStyle/>
                    <a:p>
                      <a:r>
                        <a:rPr lang="en-IN">
                          <a:latin typeface="Times New Roman" pitchFamily="18" charset="0"/>
                          <a:cs typeface="Times New Roman" pitchFamily="18" charset="0"/>
                        </a:rPr>
                        <a:t>Cause</a:t>
                      </a:r>
                    </a:p>
                  </a:txBody>
                  <a:tcPr anchor="ctr"/>
                </a:tc>
                <a:tc>
                  <a:txBody>
                    <a:bodyPr/>
                    <a:lstStyle/>
                    <a:p>
                      <a:r>
                        <a:rPr lang="en-IN" dirty="0">
                          <a:latin typeface="Times New Roman" pitchFamily="18" charset="0"/>
                          <a:cs typeface="Times New Roman" pitchFamily="18" charset="0"/>
                        </a:rPr>
                        <a:t>Signal arrives only via scattering, reflection, diffraction</a:t>
                      </a:r>
                    </a:p>
                  </a:txBody>
                  <a:tcPr anchor="ctr"/>
                </a:tc>
                <a:tc>
                  <a:txBody>
                    <a:bodyPr/>
                    <a:lstStyle/>
                    <a:p>
                      <a:r>
                        <a:rPr lang="en-IN">
                          <a:latin typeface="Times New Roman" pitchFamily="18" charset="0"/>
                          <a:cs typeface="Times New Roman" pitchFamily="18" charset="0"/>
                        </a:rPr>
                        <a:t>Signal arrives via direct path + multipath</a:t>
                      </a:r>
                    </a:p>
                  </a:txBody>
                  <a:tcPr anchor="ctr"/>
                </a:tc>
                <a:extLst>
                  <a:ext uri="{0D108BD9-81ED-4DB2-BD59-A6C34878D82A}">
                    <a16:rowId xmlns:a16="http://schemas.microsoft.com/office/drawing/2014/main" val="10002"/>
                  </a:ext>
                </a:extLst>
              </a:tr>
              <a:tr h="435817">
                <a:tc>
                  <a:txBody>
                    <a:bodyPr/>
                    <a:lstStyle/>
                    <a:p>
                      <a:r>
                        <a:rPr lang="en-IN">
                          <a:latin typeface="Times New Roman" pitchFamily="18" charset="0"/>
                          <a:cs typeface="Times New Roman" pitchFamily="18" charset="0"/>
                        </a:rPr>
                        <a:t>Distribution</a:t>
                      </a:r>
                    </a:p>
                  </a:txBody>
                  <a:tcPr anchor="ctr"/>
                </a:tc>
                <a:tc>
                  <a:txBody>
                    <a:bodyPr/>
                    <a:lstStyle/>
                    <a:p>
                      <a:r>
                        <a:rPr lang="en-IN">
                          <a:latin typeface="Times New Roman" pitchFamily="18" charset="0"/>
                          <a:cs typeface="Times New Roman" pitchFamily="18" charset="0"/>
                        </a:rPr>
                        <a:t>Rayleigh distribution</a:t>
                      </a:r>
                    </a:p>
                  </a:txBody>
                  <a:tcPr anchor="ctr"/>
                </a:tc>
                <a:tc>
                  <a:txBody>
                    <a:bodyPr/>
                    <a:lstStyle/>
                    <a:p>
                      <a:r>
                        <a:rPr lang="en-IN">
                          <a:latin typeface="Times New Roman" pitchFamily="18" charset="0"/>
                          <a:cs typeface="Times New Roman" pitchFamily="18" charset="0"/>
                        </a:rPr>
                        <a:t>Rician distribution</a:t>
                      </a:r>
                    </a:p>
                  </a:txBody>
                  <a:tcPr anchor="ctr"/>
                </a:tc>
                <a:extLst>
                  <a:ext uri="{0D108BD9-81ED-4DB2-BD59-A6C34878D82A}">
                    <a16:rowId xmlns:a16="http://schemas.microsoft.com/office/drawing/2014/main" val="10003"/>
                  </a:ext>
                </a:extLst>
              </a:tr>
              <a:tr h="762680">
                <a:tc>
                  <a:txBody>
                    <a:bodyPr/>
                    <a:lstStyle/>
                    <a:p>
                      <a:r>
                        <a:rPr lang="en-IN">
                          <a:latin typeface="Times New Roman" pitchFamily="18" charset="0"/>
                          <a:cs typeface="Times New Roman" pitchFamily="18" charset="0"/>
                        </a:rPr>
                        <a:t>Environment</a:t>
                      </a:r>
                    </a:p>
                  </a:txBody>
                  <a:tcPr anchor="ctr"/>
                </a:tc>
                <a:tc>
                  <a:txBody>
                    <a:bodyPr/>
                    <a:lstStyle/>
                    <a:p>
                      <a:r>
                        <a:rPr lang="en-IN" dirty="0">
                          <a:latin typeface="Times New Roman" pitchFamily="18" charset="0"/>
                          <a:cs typeface="Times New Roman" pitchFamily="18" charset="0"/>
                        </a:rPr>
                        <a:t>Dense urban areas, indoors</a:t>
                      </a:r>
                    </a:p>
                  </a:txBody>
                  <a:tcPr anchor="ctr"/>
                </a:tc>
                <a:tc>
                  <a:txBody>
                    <a:bodyPr/>
                    <a:lstStyle/>
                    <a:p>
                      <a:r>
                        <a:rPr lang="en-IN">
                          <a:latin typeface="Times New Roman" pitchFamily="18" charset="0"/>
                          <a:cs typeface="Times New Roman" pitchFamily="18" charset="0"/>
                        </a:rPr>
                        <a:t>Suburban, open areas, highways</a:t>
                      </a:r>
                    </a:p>
                  </a:txBody>
                  <a:tcPr anchor="ctr"/>
                </a:tc>
                <a:extLst>
                  <a:ext uri="{0D108BD9-81ED-4DB2-BD59-A6C34878D82A}">
                    <a16:rowId xmlns:a16="http://schemas.microsoft.com/office/drawing/2014/main" val="10004"/>
                  </a:ext>
                </a:extLst>
              </a:tr>
              <a:tr h="762680">
                <a:tc>
                  <a:txBody>
                    <a:bodyPr/>
                    <a:lstStyle/>
                    <a:p>
                      <a:r>
                        <a:rPr lang="en-IN">
                          <a:latin typeface="Times New Roman" pitchFamily="18" charset="0"/>
                          <a:cs typeface="Times New Roman" pitchFamily="18" charset="0"/>
                        </a:rPr>
                        <a:t>Signal Quality</a:t>
                      </a:r>
                    </a:p>
                  </a:txBody>
                  <a:tcPr anchor="ctr"/>
                </a:tc>
                <a:tc>
                  <a:txBody>
                    <a:bodyPr/>
                    <a:lstStyle/>
                    <a:p>
                      <a:r>
                        <a:rPr lang="en-US" dirty="0">
                          <a:latin typeface="Times New Roman" pitchFamily="18" charset="0"/>
                          <a:cs typeface="Times New Roman" pitchFamily="18" charset="0"/>
                        </a:rPr>
                        <a:t>Highly unstable, deep fades common</a:t>
                      </a:r>
                    </a:p>
                  </a:txBody>
                  <a:tcPr anchor="ctr"/>
                </a:tc>
                <a:tc>
                  <a:txBody>
                    <a:bodyPr/>
                    <a:lstStyle/>
                    <a:p>
                      <a:r>
                        <a:rPr lang="en-US">
                          <a:latin typeface="Times New Roman" pitchFamily="18" charset="0"/>
                          <a:cs typeface="Times New Roman" pitchFamily="18" charset="0"/>
                        </a:rPr>
                        <a:t>More stable, fewer deep fades</a:t>
                      </a:r>
                    </a:p>
                  </a:txBody>
                  <a:tcPr anchor="ctr"/>
                </a:tc>
                <a:extLst>
                  <a:ext uri="{0D108BD9-81ED-4DB2-BD59-A6C34878D82A}">
                    <a16:rowId xmlns:a16="http://schemas.microsoft.com/office/drawing/2014/main" val="10005"/>
                  </a:ext>
                </a:extLst>
              </a:tr>
              <a:tr h="1089542">
                <a:tc>
                  <a:txBody>
                    <a:bodyPr/>
                    <a:lstStyle/>
                    <a:p>
                      <a:r>
                        <a:rPr lang="en-IN">
                          <a:latin typeface="Times New Roman" pitchFamily="18" charset="0"/>
                          <a:cs typeface="Times New Roman" pitchFamily="18" charset="0"/>
                        </a:rPr>
                        <a:t>Example</a:t>
                      </a:r>
                    </a:p>
                  </a:txBody>
                  <a:tcPr anchor="ctr"/>
                </a:tc>
                <a:tc>
                  <a:txBody>
                    <a:bodyPr/>
                    <a:lstStyle/>
                    <a:p>
                      <a:r>
                        <a:rPr lang="en-US">
                          <a:latin typeface="Times New Roman" pitchFamily="18" charset="0"/>
                          <a:cs typeface="Times New Roman" pitchFamily="18" charset="0"/>
                        </a:rPr>
                        <a:t>Phone call in a crowded city street with tall buildings</a:t>
                      </a:r>
                    </a:p>
                  </a:txBody>
                  <a:tcPr anchor="ctr"/>
                </a:tc>
                <a:tc>
                  <a:txBody>
                    <a:bodyPr/>
                    <a:lstStyle/>
                    <a:p>
                      <a:r>
                        <a:rPr lang="en-US" dirty="0">
                          <a:latin typeface="Times New Roman" pitchFamily="18" charset="0"/>
                          <a:cs typeface="Times New Roman" pitchFamily="18" charset="0"/>
                        </a:rPr>
                        <a:t>Video call in an open ground with tower in view</a:t>
                      </a: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3218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style>
          <a:lnRef idx="2">
            <a:schemeClr val="accent3"/>
          </a:lnRef>
          <a:fillRef idx="1">
            <a:schemeClr val="lt1"/>
          </a:fillRef>
          <a:effectRef idx="0">
            <a:schemeClr val="accent3"/>
          </a:effectRef>
          <a:fontRef idx="minor">
            <a:schemeClr val="dk1"/>
          </a:fontRef>
        </p:style>
        <p:txBody>
          <a:bodyPr>
            <a:normAutofit/>
          </a:bodyPr>
          <a:lstStyle/>
          <a:p>
            <a:r>
              <a:rPr lang="en-US" sz="3600" b="1" dirty="0">
                <a:solidFill>
                  <a:srgbClr val="0070C0"/>
                </a:solidFill>
                <a:latin typeface="Times New Roman" pitchFamily="18" charset="0"/>
                <a:cs typeface="Times New Roman" pitchFamily="18" charset="0"/>
              </a:rPr>
              <a:t>BER Performance in Fading Channels</a:t>
            </a:r>
            <a:endParaRPr lang="en-IN" sz="3600" b="1"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124744"/>
            <a:ext cx="8229600" cy="5001419"/>
          </a:xfrm>
        </p:spPr>
        <p:txBody>
          <a:bodyPr>
            <a:normAutofit fontScale="70000" lnSpcReduction="20000"/>
          </a:bodyPr>
          <a:lstStyle/>
          <a:p>
            <a:pPr marL="0" indent="0">
              <a:buNone/>
            </a:pPr>
            <a:r>
              <a:rPr lang="en-IN" b="1" dirty="0">
                <a:solidFill>
                  <a:srgbClr val="FF0000"/>
                </a:solidFill>
                <a:latin typeface="Times New Roman" pitchFamily="18" charset="0"/>
                <a:cs typeface="Times New Roman" pitchFamily="18" charset="0"/>
              </a:rPr>
              <a:t>BER (Bit Error Rate)</a:t>
            </a:r>
            <a:endParaRPr lang="en-US" b="1" dirty="0">
              <a:solidFill>
                <a:srgbClr val="FF0000"/>
              </a:solidFill>
              <a:latin typeface="Times New Roman" pitchFamily="18" charset="0"/>
              <a:cs typeface="Times New Roman" pitchFamily="18" charset="0"/>
            </a:endParaRPr>
          </a:p>
          <a:p>
            <a:r>
              <a:rPr lang="en-US" dirty="0">
                <a:latin typeface="Times New Roman" pitchFamily="18" charset="0"/>
                <a:cs typeface="Times New Roman" pitchFamily="18" charset="0"/>
              </a:rPr>
              <a:t>BER = how many bits are received wrong compared to total bits sent.</a:t>
            </a:r>
          </a:p>
          <a:p>
            <a:r>
              <a:rPr lang="en-US" dirty="0">
                <a:latin typeface="Times New Roman" pitchFamily="18" charset="0"/>
                <a:cs typeface="Times New Roman" pitchFamily="18" charset="0"/>
              </a:rPr>
              <a:t>Lower BER = better communication quality.</a:t>
            </a:r>
          </a:p>
          <a:p>
            <a:pPr marL="0" indent="0">
              <a:buNone/>
            </a:pPr>
            <a:r>
              <a:rPr lang="en-US" b="1" dirty="0">
                <a:solidFill>
                  <a:srgbClr val="FF0000"/>
                </a:solidFill>
                <a:latin typeface="Times New Roman" pitchFamily="18" charset="0"/>
                <a:cs typeface="Times New Roman" pitchFamily="18" charset="0"/>
              </a:rPr>
              <a:t>What is Fading?</a:t>
            </a:r>
          </a:p>
          <a:p>
            <a:r>
              <a:rPr lang="en-US" dirty="0">
                <a:latin typeface="Times New Roman" pitchFamily="18" charset="0"/>
                <a:cs typeface="Times New Roman" pitchFamily="18" charset="0"/>
              </a:rPr>
              <a:t>Fading = when a wireless signal becomes weak or distorted because of obstacles, reflections, or movement.</a:t>
            </a:r>
          </a:p>
          <a:p>
            <a:r>
              <a:rPr lang="en-US" dirty="0">
                <a:latin typeface="Times New Roman" pitchFamily="18" charset="0"/>
                <a:cs typeface="Times New Roman" pitchFamily="18" charset="0"/>
              </a:rPr>
              <a:t>Causes errors in received data.</a:t>
            </a:r>
          </a:p>
          <a:p>
            <a:pPr marL="0" indent="0">
              <a:buNone/>
            </a:pPr>
            <a:r>
              <a:rPr lang="en-US" b="1" dirty="0">
                <a:solidFill>
                  <a:srgbClr val="FF0000"/>
                </a:solidFill>
                <a:latin typeface="Times New Roman" pitchFamily="18" charset="0"/>
                <a:cs typeface="Times New Roman" pitchFamily="18" charset="0"/>
              </a:rPr>
              <a:t>BER in Fading Channels</a:t>
            </a:r>
            <a:endParaRPr lang="en-US" dirty="0">
              <a:solidFill>
                <a:srgbClr val="FF0000"/>
              </a:solidFill>
              <a:latin typeface="Times New Roman" pitchFamily="18" charset="0"/>
              <a:cs typeface="Times New Roman" pitchFamily="18" charset="0"/>
            </a:endParaRPr>
          </a:p>
          <a:p>
            <a:r>
              <a:rPr lang="en-US" dirty="0">
                <a:latin typeface="Times New Roman" pitchFamily="18" charset="0"/>
                <a:cs typeface="Times New Roman" pitchFamily="18" charset="0"/>
              </a:rPr>
              <a:t>In fading channels, BER increases because signals become unreliable.</a:t>
            </a:r>
          </a:p>
          <a:p>
            <a:r>
              <a:rPr lang="en-US" dirty="0">
                <a:latin typeface="Times New Roman" pitchFamily="18" charset="0"/>
                <a:cs typeface="Times New Roman" pitchFamily="18" charset="0"/>
              </a:rPr>
              <a:t>More noise, weaker signals → more bit errors.</a:t>
            </a:r>
          </a:p>
          <a:p>
            <a:pPr marL="0" indent="0">
              <a:buNone/>
            </a:pPr>
            <a:r>
              <a:rPr lang="en-US" b="1" dirty="0">
                <a:solidFill>
                  <a:srgbClr val="FF0000"/>
                </a:solidFill>
                <a:latin typeface="Times New Roman" pitchFamily="18" charset="0"/>
                <a:cs typeface="Times New Roman" pitchFamily="18" charset="0"/>
              </a:rPr>
              <a:t>How to Improve BER in Fading?</a:t>
            </a:r>
            <a:endParaRPr lang="en-US" dirty="0">
              <a:solidFill>
                <a:srgbClr val="FF0000"/>
              </a:solidFill>
              <a:latin typeface="Times New Roman" pitchFamily="18" charset="0"/>
              <a:cs typeface="Times New Roman" pitchFamily="18" charset="0"/>
            </a:endParaRPr>
          </a:p>
          <a:p>
            <a:r>
              <a:rPr lang="en-US" b="1" dirty="0">
                <a:latin typeface="Times New Roman" pitchFamily="18" charset="0"/>
                <a:cs typeface="Times New Roman" pitchFamily="18" charset="0"/>
              </a:rPr>
              <a:t>Diversity techniques</a:t>
            </a:r>
            <a:r>
              <a:rPr lang="en-US" dirty="0">
                <a:latin typeface="Times New Roman" pitchFamily="18" charset="0"/>
                <a:cs typeface="Times New Roman" pitchFamily="18" charset="0"/>
              </a:rPr>
              <a:t> (Frequency, Time, Space).</a:t>
            </a:r>
          </a:p>
          <a:p>
            <a:r>
              <a:rPr lang="en-US" b="1" dirty="0">
                <a:latin typeface="Times New Roman" pitchFamily="18" charset="0"/>
                <a:cs typeface="Times New Roman" pitchFamily="18" charset="0"/>
              </a:rPr>
              <a:t>Error correction codes</a:t>
            </a:r>
            <a:r>
              <a:rPr lang="en-US" dirty="0">
                <a:latin typeface="Times New Roman" pitchFamily="18" charset="0"/>
                <a:cs typeface="Times New Roman" pitchFamily="18" charset="0"/>
              </a:rPr>
              <a:t>.</a:t>
            </a:r>
          </a:p>
        </p:txBody>
      </p:sp>
    </p:spTree>
    <p:extLst>
      <p:ext uri="{BB962C8B-B14F-4D97-AF65-F5344CB8AC3E}">
        <p14:creationId xmlns:p14="http://schemas.microsoft.com/office/powerpoint/2010/main" val="1848430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85000" lnSpcReduction="20000"/>
          </a:bodyPr>
          <a:lstStyle/>
          <a:p>
            <a:pPr marL="0" indent="0">
              <a:buNone/>
            </a:pPr>
            <a:r>
              <a:rPr lang="en-US" b="1" dirty="0">
                <a:solidFill>
                  <a:srgbClr val="FF0000"/>
                </a:solidFill>
                <a:latin typeface="Times New Roman" pitchFamily="18" charset="0"/>
                <a:cs typeface="Times New Roman" pitchFamily="18" charset="0"/>
              </a:rPr>
              <a:t>Real-Life Example:</a:t>
            </a:r>
          </a:p>
          <a:p>
            <a:pPr marL="0" indent="0">
              <a:buNone/>
            </a:pPr>
            <a:r>
              <a:rPr lang="en-US" dirty="0">
                <a:latin typeface="Times New Roman" pitchFamily="18" charset="0"/>
                <a:cs typeface="Times New Roman" pitchFamily="18" charset="0"/>
              </a:rPr>
              <a:t>While using mobile internet in a moving car:</a:t>
            </a:r>
          </a:p>
          <a:p>
            <a:pPr lvl="1"/>
            <a:r>
              <a:rPr lang="en-US" dirty="0">
                <a:latin typeface="Times New Roman" pitchFamily="18" charset="0"/>
                <a:cs typeface="Times New Roman" pitchFamily="18" charset="0"/>
              </a:rPr>
              <a:t>At some places (open road), the signal is strong → fewer errors (low BER).</a:t>
            </a:r>
          </a:p>
          <a:p>
            <a:pPr lvl="1"/>
            <a:r>
              <a:rPr lang="en-US" dirty="0">
                <a:latin typeface="Times New Roman" pitchFamily="18" charset="0"/>
                <a:cs typeface="Times New Roman" pitchFamily="18" charset="0"/>
              </a:rPr>
              <a:t>In tunnels or near tall buildings, the signal fades → more errors (high BER).</a:t>
            </a:r>
          </a:p>
          <a:p>
            <a:pPr marL="457200" lvl="1" indent="0">
              <a:buNone/>
            </a:pPr>
            <a:endParaRPr lang="en-US" dirty="0">
              <a:latin typeface="Times New Roman" pitchFamily="18" charset="0"/>
              <a:cs typeface="Times New Roman" pitchFamily="18" charset="0"/>
            </a:endParaRPr>
          </a:p>
          <a:p>
            <a:r>
              <a:rPr lang="en-IN" dirty="0">
                <a:latin typeface="Times New Roman" pitchFamily="18" charset="0"/>
                <a:cs typeface="Times New Roman" pitchFamily="18" charset="0"/>
              </a:rPr>
              <a:t>In fading channels, </a:t>
            </a:r>
            <a:r>
              <a:rPr lang="en-IN" b="1" dirty="0">
                <a:latin typeface="Times New Roman" pitchFamily="18" charset="0"/>
                <a:cs typeface="Times New Roman" pitchFamily="18" charset="0"/>
              </a:rPr>
              <a:t>BER is worse </a:t>
            </a:r>
            <a:r>
              <a:rPr lang="en-IN" dirty="0">
                <a:latin typeface="Times New Roman" pitchFamily="18" charset="0"/>
                <a:cs typeface="Times New Roman" pitchFamily="18" charset="0"/>
              </a:rPr>
              <a:t>because signal strength keeps changing.</a:t>
            </a:r>
          </a:p>
          <a:p>
            <a:r>
              <a:rPr lang="en-IN" dirty="0" err="1">
                <a:latin typeface="Times New Roman" pitchFamily="18" charset="0"/>
                <a:cs typeface="Times New Roman" pitchFamily="18" charset="0"/>
              </a:rPr>
              <a:t>Rician</a:t>
            </a:r>
            <a:r>
              <a:rPr lang="en-IN" dirty="0">
                <a:latin typeface="Times New Roman" pitchFamily="18" charset="0"/>
                <a:cs typeface="Times New Roman" pitchFamily="18" charset="0"/>
              </a:rPr>
              <a:t> fading (with LOS path) → </a:t>
            </a:r>
            <a:r>
              <a:rPr lang="en-IN" b="1" dirty="0">
                <a:latin typeface="Times New Roman" pitchFamily="18" charset="0"/>
                <a:cs typeface="Times New Roman" pitchFamily="18" charset="0"/>
              </a:rPr>
              <a:t>medium performance.</a:t>
            </a:r>
          </a:p>
          <a:p>
            <a:r>
              <a:rPr lang="en-IN" dirty="0">
                <a:latin typeface="Times New Roman" pitchFamily="18" charset="0"/>
                <a:cs typeface="Times New Roman" pitchFamily="18" charset="0"/>
              </a:rPr>
              <a:t>Rayleigh fading (no LOS path) → </a:t>
            </a:r>
            <a:r>
              <a:rPr lang="en-IN" b="1" dirty="0">
                <a:latin typeface="Times New Roman" pitchFamily="18" charset="0"/>
                <a:cs typeface="Times New Roman" pitchFamily="18" charset="0"/>
              </a:rPr>
              <a:t>worst performance.</a:t>
            </a:r>
          </a:p>
          <a:p>
            <a:pPr marL="0" indent="0">
              <a:buNone/>
            </a:pPr>
            <a:endParaRPr lang="en-IN" b="1" dirty="0">
              <a:latin typeface="Times New Roman" pitchFamily="18" charset="0"/>
              <a:cs typeface="Times New Roman" pitchFamily="18" charset="0"/>
            </a:endParaRPr>
          </a:p>
          <a:p>
            <a:r>
              <a:rPr lang="en-IN" sz="2400" b="1" dirty="0">
                <a:solidFill>
                  <a:srgbClr val="7030A0"/>
                </a:solidFill>
                <a:latin typeface="Times New Roman" pitchFamily="18" charset="0"/>
                <a:cs typeface="Times New Roman" pitchFamily="18" charset="0"/>
              </a:rPr>
              <a:t>BER TELLS US HOW MANY TRANSMITTED BITS BECOMES WRONG DURING COMMUNICATION.</a:t>
            </a:r>
          </a:p>
          <a:p>
            <a:pPr marL="457200" lvl="1" indent="0">
              <a:buNone/>
            </a:pPr>
            <a:endParaRPr lang="en-US" dirty="0"/>
          </a:p>
          <a:p>
            <a:endParaRPr lang="en-IN" dirty="0"/>
          </a:p>
        </p:txBody>
      </p:sp>
    </p:spTree>
    <p:extLst>
      <p:ext uri="{BB962C8B-B14F-4D97-AF65-F5344CB8AC3E}">
        <p14:creationId xmlns:p14="http://schemas.microsoft.com/office/powerpoint/2010/main" val="15511928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style>
          <a:lnRef idx="2">
            <a:schemeClr val="accent5"/>
          </a:lnRef>
          <a:fillRef idx="1">
            <a:schemeClr val="lt1"/>
          </a:fillRef>
          <a:effectRef idx="0">
            <a:schemeClr val="accent5"/>
          </a:effectRef>
          <a:fontRef idx="minor">
            <a:schemeClr val="dk1"/>
          </a:fontRef>
        </p:style>
        <p:txBody>
          <a:bodyPr>
            <a:noAutofit/>
          </a:bodyPr>
          <a:lstStyle/>
          <a:p>
            <a:r>
              <a:rPr lang="en-US" sz="2800" b="1" dirty="0">
                <a:solidFill>
                  <a:srgbClr val="0070C0"/>
                </a:solidFill>
                <a:latin typeface="Times New Roman" pitchFamily="18" charset="0"/>
                <a:cs typeface="Times New Roman" pitchFamily="18" charset="0"/>
              </a:rPr>
              <a:t>Diversity modeling for Wireless Communications</a:t>
            </a:r>
            <a:endParaRPr lang="en-IN" sz="2800" b="1"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412776"/>
            <a:ext cx="8229600" cy="5112568"/>
          </a:xfrm>
        </p:spPr>
        <p:txBody>
          <a:bodyPr>
            <a:normAutofit fontScale="85000" lnSpcReduction="20000"/>
          </a:bodyPr>
          <a:lstStyle/>
          <a:p>
            <a:r>
              <a:rPr lang="en-US" sz="3100" dirty="0">
                <a:latin typeface="Times New Roman" panose="02020603050405020304" pitchFamily="18" charset="0"/>
                <a:cs typeface="Times New Roman" pitchFamily="18" charset="0"/>
              </a:rPr>
              <a:t>In wireless systems, signals often get </a:t>
            </a:r>
            <a:r>
              <a:rPr lang="en-US" sz="3100" b="1" dirty="0">
                <a:latin typeface="Times New Roman" panose="02020603050405020304" pitchFamily="18" charset="0"/>
                <a:cs typeface="Times New Roman" pitchFamily="18" charset="0"/>
              </a:rPr>
              <a:t>weak</a:t>
            </a:r>
            <a:r>
              <a:rPr lang="en-US" sz="3100" dirty="0">
                <a:latin typeface="Times New Roman" panose="02020603050405020304" pitchFamily="18" charset="0"/>
                <a:cs typeface="Times New Roman" pitchFamily="18" charset="0"/>
              </a:rPr>
              <a:t> or </a:t>
            </a:r>
            <a:r>
              <a:rPr lang="en-US" sz="3100" b="1" dirty="0">
                <a:latin typeface="Times New Roman" panose="02020603050405020304" pitchFamily="18" charset="0"/>
                <a:cs typeface="Times New Roman" pitchFamily="18" charset="0"/>
              </a:rPr>
              <a:t>distorted</a:t>
            </a:r>
            <a:r>
              <a:rPr lang="en-US" sz="3100" dirty="0">
                <a:latin typeface="Times New Roman" pitchFamily="18" charset="0"/>
                <a:cs typeface="Times New Roman" pitchFamily="18" charset="0"/>
              </a:rPr>
              <a:t> because of:</a:t>
            </a:r>
          </a:p>
          <a:p>
            <a:pPr>
              <a:buFont typeface="Wingdings" panose="05000000000000000000" pitchFamily="2" charset="2"/>
              <a:buChar char="ü"/>
            </a:pPr>
            <a:r>
              <a:rPr lang="en-US" sz="3100" dirty="0">
                <a:latin typeface="Times New Roman" pitchFamily="18" charset="0"/>
                <a:cs typeface="Times New Roman" pitchFamily="18" charset="0"/>
              </a:rPr>
              <a:t>Fading (signal strength going up and down),</a:t>
            </a:r>
          </a:p>
          <a:p>
            <a:pPr>
              <a:buFont typeface="Wingdings" panose="05000000000000000000" pitchFamily="2" charset="2"/>
              <a:buChar char="ü"/>
            </a:pPr>
            <a:r>
              <a:rPr lang="en-US" sz="3100" dirty="0">
                <a:latin typeface="Times New Roman" pitchFamily="18" charset="0"/>
                <a:cs typeface="Times New Roman" pitchFamily="18" charset="0"/>
              </a:rPr>
              <a:t>Noise,</a:t>
            </a:r>
          </a:p>
          <a:p>
            <a:pPr>
              <a:buFont typeface="Wingdings" panose="05000000000000000000" pitchFamily="2" charset="2"/>
              <a:buChar char="ü"/>
            </a:pPr>
            <a:r>
              <a:rPr lang="en-US" sz="3100" dirty="0">
                <a:latin typeface="Times New Roman" pitchFamily="18" charset="0"/>
                <a:cs typeface="Times New Roman" pitchFamily="18" charset="0"/>
              </a:rPr>
              <a:t>Interference,</a:t>
            </a:r>
          </a:p>
          <a:p>
            <a:pPr>
              <a:buFont typeface="Wingdings" panose="05000000000000000000" pitchFamily="2" charset="2"/>
              <a:buChar char="ü"/>
            </a:pPr>
            <a:r>
              <a:rPr lang="en-US" sz="3100" dirty="0">
                <a:latin typeface="Times New Roman" pitchFamily="18" charset="0"/>
                <a:cs typeface="Times New Roman" pitchFamily="18" charset="0"/>
              </a:rPr>
              <a:t>Obstacles (like buildings, trees, </a:t>
            </a:r>
            <a:r>
              <a:rPr lang="en-US" sz="3100" dirty="0" err="1">
                <a:latin typeface="Times New Roman" panose="02020603050405020304" pitchFamily="18" charset="0"/>
                <a:cs typeface="Times New Roman" pitchFamily="18" charset="0"/>
              </a:rPr>
              <a:t>etc</a:t>
            </a:r>
            <a:r>
              <a:rPr lang="en-US" sz="3100" dirty="0">
                <a:latin typeface="Times New Roman" panose="02020603050405020304" pitchFamily="18" charset="0"/>
                <a:cs typeface="Times New Roman" pitchFamily="18" charset="0"/>
              </a:rPr>
              <a:t>)</a:t>
            </a:r>
          </a:p>
          <a:p>
            <a:r>
              <a:rPr lang="en-US" sz="3100" b="1" dirty="0">
                <a:latin typeface="Times New Roman" panose="02020603050405020304" pitchFamily="18" charset="0"/>
                <a:cs typeface="Times New Roman" pitchFamily="18" charset="0"/>
              </a:rPr>
              <a:t>Diversity</a:t>
            </a:r>
            <a:r>
              <a:rPr lang="en-US" sz="3100" dirty="0">
                <a:latin typeface="Times New Roman" panose="02020603050405020304" pitchFamily="18" charset="0"/>
                <a:cs typeface="Times New Roman" pitchFamily="18" charset="0"/>
              </a:rPr>
              <a:t> is a technique used to </a:t>
            </a:r>
            <a:r>
              <a:rPr lang="en-US" sz="3100" b="1" dirty="0">
                <a:latin typeface="Times New Roman" panose="02020603050405020304" pitchFamily="18" charset="0"/>
                <a:cs typeface="Times New Roman" pitchFamily="18" charset="0"/>
              </a:rPr>
              <a:t>improve signal quality and reliability</a:t>
            </a:r>
            <a:r>
              <a:rPr lang="en-US" sz="3100" dirty="0">
                <a:latin typeface="Times New Roman" panose="02020603050405020304" pitchFamily="18" charset="0"/>
                <a:cs typeface="Times New Roman" pitchFamily="18" charset="0"/>
              </a:rPr>
              <a:t> by sending/receiving the same information in </a:t>
            </a:r>
            <a:r>
              <a:rPr lang="en-US" sz="3100" b="1" dirty="0">
                <a:latin typeface="Times New Roman" panose="02020603050405020304" pitchFamily="18" charset="0"/>
                <a:cs typeface="Times New Roman" pitchFamily="18" charset="0"/>
              </a:rPr>
              <a:t>different ways</a:t>
            </a:r>
            <a:r>
              <a:rPr lang="en-US" sz="3100" dirty="0">
                <a:latin typeface="Times New Roman" panose="02020603050405020304" pitchFamily="18" charset="0"/>
                <a:cs typeface="Times New Roman" pitchFamily="18" charset="0"/>
              </a:rPr>
              <a:t> (like different paths, times, or frequencies).</a:t>
            </a:r>
            <a:br>
              <a:rPr lang="en-US" sz="3100" dirty="0">
                <a:latin typeface="Times New Roman" panose="02020603050405020304" pitchFamily="18" charset="0"/>
                <a:cs typeface="Times New Roman" pitchFamily="18" charset="0"/>
              </a:rPr>
            </a:br>
            <a:r>
              <a:rPr lang="en-US" sz="3100" b="1" dirty="0">
                <a:solidFill>
                  <a:srgbClr val="C00000"/>
                </a:solidFill>
                <a:latin typeface="Times New Roman" panose="02020603050405020304" pitchFamily="18" charset="0"/>
                <a:cs typeface="Times New Roman" pitchFamily="18" charset="0"/>
              </a:rPr>
              <a:t>If one path is bad, another might be good → so overall communication improves.</a:t>
            </a:r>
          </a:p>
          <a:p>
            <a:pPr marL="0" indent="0">
              <a:buNone/>
            </a:pPr>
            <a:r>
              <a:rPr lang="en-IN" sz="3100" b="1" dirty="0">
                <a:latin typeface="Times New Roman" panose="02020603050405020304" pitchFamily="18" charset="0"/>
                <a:cs typeface="Times New Roman" panose="02020603050405020304" pitchFamily="18" charset="0"/>
              </a:rPr>
              <a:t>Example:</a:t>
            </a:r>
            <a:r>
              <a:rPr lang="en-IN" sz="3100" dirty="0">
                <a:latin typeface="Times New Roman" panose="02020603050405020304" pitchFamily="18" charset="0"/>
                <a:cs typeface="Times New Roman" panose="02020603050405020304" pitchFamily="18" charset="0"/>
              </a:rPr>
              <a:t> Using two antennas, if one signal fades, the second antenna helps maintain the call.</a:t>
            </a:r>
          </a:p>
          <a:p>
            <a:endParaRPr lang="en-US" b="1" dirty="0">
              <a:solidFill>
                <a:srgbClr val="C00000"/>
              </a:solidFill>
              <a:latin typeface="Times New Roman" pitchFamily="18" charset="0"/>
              <a:cs typeface="Times New Roman" pitchFamily="18" charset="0"/>
            </a:endParaRP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9477482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6120680"/>
          </a:xfrm>
        </p:spPr>
        <p:txBody>
          <a:bodyPr>
            <a:normAutofit fontScale="62500" lnSpcReduction="20000"/>
          </a:bodyPr>
          <a:lstStyle/>
          <a:p>
            <a:pPr marL="0" indent="0">
              <a:buNone/>
            </a:pPr>
            <a:r>
              <a:rPr lang="en-US" b="1" dirty="0">
                <a:latin typeface="Times New Roman" pitchFamily="18" charset="0"/>
                <a:cs typeface="Times New Roman" pitchFamily="18" charset="0"/>
              </a:rPr>
              <a:t>Problem in Wireless</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Signals often get weak due to fading, noise, or obstacles.</a:t>
            </a:r>
          </a:p>
          <a:p>
            <a:r>
              <a:rPr lang="en-US" dirty="0">
                <a:latin typeface="Times New Roman" pitchFamily="18" charset="0"/>
                <a:cs typeface="Times New Roman" pitchFamily="18" charset="0"/>
              </a:rPr>
              <a:t>This causes call drops, slow internet, or unclear reception.</a:t>
            </a:r>
          </a:p>
          <a:p>
            <a:pPr marL="0" indent="0">
              <a:buNone/>
            </a:pPr>
            <a:r>
              <a:rPr lang="en-US" b="1" dirty="0">
                <a:latin typeface="Times New Roman" pitchFamily="18" charset="0"/>
                <a:cs typeface="Times New Roman" pitchFamily="18" charset="0"/>
              </a:rPr>
              <a:t>Solution – Diversity</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Send or receive the same signal in </a:t>
            </a:r>
            <a:r>
              <a:rPr lang="en-US" b="1" dirty="0">
                <a:latin typeface="Times New Roman" pitchFamily="18" charset="0"/>
                <a:cs typeface="Times New Roman" pitchFamily="18" charset="0"/>
              </a:rPr>
              <a:t>different ways</a:t>
            </a:r>
            <a:r>
              <a:rPr lang="en-US" dirty="0">
                <a:latin typeface="Times New Roman" pitchFamily="18" charset="0"/>
                <a:cs typeface="Times New Roman" pitchFamily="18" charset="0"/>
              </a:rPr>
              <a:t>.</a:t>
            </a:r>
          </a:p>
          <a:p>
            <a:r>
              <a:rPr lang="en-US" dirty="0">
                <a:latin typeface="Times New Roman" pitchFamily="18" charset="0"/>
                <a:cs typeface="Times New Roman" pitchFamily="18" charset="0"/>
              </a:rPr>
              <a:t>If one way fails, another succeeds → improves reliability.</a:t>
            </a:r>
          </a:p>
          <a:p>
            <a:pPr marL="0" indent="0">
              <a:buNone/>
            </a:pPr>
            <a:r>
              <a:rPr lang="en-US" b="1" dirty="0">
                <a:latin typeface="Times New Roman" pitchFamily="18" charset="0"/>
                <a:cs typeface="Times New Roman" pitchFamily="18" charset="0"/>
              </a:rPr>
              <a:t>How it Helps</a:t>
            </a:r>
            <a:r>
              <a:rPr lang="en-US" dirty="0">
                <a:latin typeface="Times New Roman" pitchFamily="18" charset="0"/>
                <a:cs typeface="Times New Roman" pitchFamily="18" charset="0"/>
              </a:rPr>
              <a:t>:</a:t>
            </a:r>
          </a:p>
          <a:p>
            <a:pPr lvl="1"/>
            <a:r>
              <a:rPr lang="en-US" dirty="0">
                <a:latin typeface="Times New Roman" pitchFamily="18" charset="0"/>
                <a:cs typeface="Times New Roman" pitchFamily="18" charset="0"/>
              </a:rPr>
              <a:t>Reduces errors,</a:t>
            </a:r>
          </a:p>
          <a:p>
            <a:pPr lvl="1"/>
            <a:r>
              <a:rPr lang="en-US" dirty="0">
                <a:latin typeface="Times New Roman" pitchFamily="18" charset="0"/>
                <a:cs typeface="Times New Roman" pitchFamily="18" charset="0"/>
              </a:rPr>
              <a:t>Improves call quality,</a:t>
            </a:r>
          </a:p>
          <a:p>
            <a:pPr lvl="1"/>
            <a:r>
              <a:rPr lang="en-US" dirty="0">
                <a:latin typeface="Times New Roman" pitchFamily="18" charset="0"/>
                <a:cs typeface="Times New Roman" pitchFamily="18" charset="0"/>
              </a:rPr>
              <a:t>Increases internet speed reliability.</a:t>
            </a:r>
          </a:p>
          <a:p>
            <a:pPr marL="457200" lvl="1" indent="0">
              <a:buNone/>
            </a:pPr>
            <a:endParaRPr lang="en-US" dirty="0">
              <a:latin typeface="Times New Roman" pitchFamily="18" charset="0"/>
              <a:cs typeface="Times New Roman" pitchFamily="18" charset="0"/>
            </a:endParaRPr>
          </a:p>
          <a:p>
            <a:pPr marL="457200" lvl="1" indent="-457200" algn="just">
              <a:buNone/>
              <a:tabLst>
                <a:tab pos="0" algn="l"/>
              </a:tabLst>
            </a:pPr>
            <a:r>
              <a:rPr lang="en-US" b="1" dirty="0">
                <a:latin typeface="Times New Roman" pitchFamily="18" charset="0"/>
                <a:cs typeface="Times New Roman" pitchFamily="18" charset="0"/>
              </a:rPr>
              <a:t>Example:</a:t>
            </a:r>
            <a:r>
              <a:rPr lang="en-US" dirty="0">
                <a:latin typeface="Times New Roman" pitchFamily="18" charset="0"/>
                <a:cs typeface="Times New Roman" pitchFamily="18" charset="0"/>
              </a:rPr>
              <a:t> </a:t>
            </a:r>
          </a:p>
          <a:p>
            <a:pPr marL="457200" lvl="1" indent="-457200" algn="just">
              <a:buNone/>
              <a:tabLst>
                <a:tab pos="0" algn="l"/>
              </a:tabLst>
            </a:pPr>
            <a:r>
              <a:rPr lang="en-US" dirty="0">
                <a:latin typeface="Times New Roman" pitchFamily="18" charset="0"/>
                <a:cs typeface="Times New Roman" pitchFamily="18" charset="0"/>
              </a:rPr>
              <a:t>In mobile phones, multiple antennas (MIMO) are used so if one signal path is blocked </a:t>
            </a:r>
          </a:p>
          <a:p>
            <a:pPr marL="457200" lvl="1" indent="-457200" algn="just">
              <a:buNone/>
              <a:tabLst>
                <a:tab pos="0" algn="l"/>
              </a:tabLst>
            </a:pPr>
            <a:r>
              <a:rPr lang="en-US" dirty="0">
                <a:latin typeface="Times New Roman" pitchFamily="18" charset="0"/>
                <a:cs typeface="Times New Roman" pitchFamily="18" charset="0"/>
              </a:rPr>
              <a:t>by a building, another path still carries the signal → call remains clear.</a:t>
            </a:r>
            <a:endParaRPr lang="en-US" b="1"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pPr marL="0" indent="0">
              <a:buNone/>
            </a:pPr>
            <a:r>
              <a:rPr lang="en-IN" b="1" dirty="0">
                <a:latin typeface="Times New Roman" pitchFamily="18" charset="0"/>
                <a:cs typeface="Times New Roman" pitchFamily="18" charset="0"/>
              </a:rPr>
              <a:t>In short:</a:t>
            </a:r>
            <a:endParaRPr lang="en-US" b="1" dirty="0">
              <a:latin typeface="Times New Roman" pitchFamily="18" charset="0"/>
              <a:cs typeface="Times New Roman" pitchFamily="18" charset="0"/>
            </a:endParaRPr>
          </a:p>
          <a:p>
            <a:r>
              <a:rPr lang="en-US" b="1" dirty="0">
                <a:solidFill>
                  <a:srgbClr val="0070C0"/>
                </a:solidFill>
                <a:latin typeface="Times New Roman" pitchFamily="18" charset="0"/>
                <a:cs typeface="Times New Roman" pitchFamily="18" charset="0"/>
              </a:rPr>
              <a:t>Diversity modeling </a:t>
            </a:r>
            <a:r>
              <a:rPr lang="en-US" dirty="0">
                <a:latin typeface="Times New Roman" pitchFamily="18" charset="0"/>
                <a:cs typeface="Times New Roman" pitchFamily="18" charset="0"/>
              </a:rPr>
              <a:t>= sending the same signal in multiple ways (time, frequency, space) so that wireless communication stays strong and clear.</a:t>
            </a:r>
          </a:p>
          <a:p>
            <a:r>
              <a:rPr lang="en-US" dirty="0">
                <a:latin typeface="Times New Roman" pitchFamily="18" charset="0"/>
                <a:cs typeface="Times New Roman" pitchFamily="18" charset="0"/>
              </a:rPr>
              <a:t>Diversity in wireless is like having backup routes for your signal – if one fails, another saves the communication.</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7697247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latin typeface="Times New Roman" pitchFamily="18" charset="0"/>
                <a:cs typeface="Times New Roman" pitchFamily="18" charset="0"/>
              </a:rPr>
              <a:t>Diversity modeling for Wireless Communications</a:t>
            </a:r>
            <a:endParaRPr lang="en-IN" b="1" dirty="0">
              <a:solidFill>
                <a:srgbClr val="0070C0"/>
              </a:solidFill>
              <a:latin typeface="Times New Roman" pitchFamily="18" charset="0"/>
              <a:cs typeface="Times New Roman" pitchFamily="18" charset="0"/>
            </a:endParaRP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77528" y="1600200"/>
            <a:ext cx="6788944" cy="45259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3113325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8058"/>
          </a:xfrm>
        </p:spPr>
        <p:txBody>
          <a:bodyPr>
            <a:noAutofit/>
          </a:bodyPr>
          <a:lstStyle/>
          <a:p>
            <a:r>
              <a:rPr lang="en-US" sz="2800" b="1" dirty="0">
                <a:solidFill>
                  <a:srgbClr val="FF0000"/>
                </a:solidFill>
                <a:latin typeface="Times New Roman" pitchFamily="18" charset="0"/>
                <a:cs typeface="Times New Roman" pitchFamily="18" charset="0"/>
              </a:rPr>
              <a:t>BER Performance Improvement with diversity</a:t>
            </a:r>
            <a:endParaRPr lang="en-IN" sz="2800" b="1" dirty="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764704"/>
            <a:ext cx="8229600" cy="5832648"/>
          </a:xfrm>
        </p:spPr>
        <p:txBody>
          <a:bodyPr>
            <a:noAutofit/>
          </a:bodyPr>
          <a:lstStyle/>
          <a:p>
            <a:r>
              <a:rPr lang="en-US" sz="1500" b="1" dirty="0">
                <a:latin typeface="Times New Roman" pitchFamily="18" charset="0"/>
                <a:cs typeface="Times New Roman" pitchFamily="18" charset="0"/>
              </a:rPr>
              <a:t>What is BER?</a:t>
            </a:r>
            <a:endParaRPr lang="en-US" sz="1500" dirty="0">
              <a:latin typeface="Times New Roman" pitchFamily="18" charset="0"/>
              <a:cs typeface="Times New Roman" pitchFamily="18" charset="0"/>
            </a:endParaRPr>
          </a:p>
          <a:p>
            <a:pPr lvl="1"/>
            <a:r>
              <a:rPr lang="en-US" sz="1500" dirty="0">
                <a:latin typeface="Times New Roman" pitchFamily="18" charset="0"/>
                <a:cs typeface="Times New Roman" pitchFamily="18" charset="0"/>
              </a:rPr>
              <a:t>BER = </a:t>
            </a:r>
            <a:r>
              <a:rPr lang="en-US" sz="1500" b="1" dirty="0">
                <a:latin typeface="Times New Roman" pitchFamily="18" charset="0"/>
                <a:cs typeface="Times New Roman" pitchFamily="18" charset="0"/>
              </a:rPr>
              <a:t>Bit Error Rate</a:t>
            </a:r>
            <a:r>
              <a:rPr lang="en-US" sz="1500" dirty="0">
                <a:latin typeface="Times New Roman" pitchFamily="18" charset="0"/>
                <a:cs typeface="Times New Roman" pitchFamily="18" charset="0"/>
              </a:rPr>
              <a:t> → </a:t>
            </a:r>
            <a:r>
              <a:rPr lang="en-US" sz="1500" b="1" dirty="0">
                <a:solidFill>
                  <a:srgbClr val="C00000"/>
                </a:solidFill>
                <a:latin typeface="Times New Roman" pitchFamily="18" charset="0"/>
                <a:cs typeface="Times New Roman" pitchFamily="18" charset="0"/>
              </a:rPr>
              <a:t>number of wrong bits received / total bits sent.</a:t>
            </a:r>
          </a:p>
          <a:p>
            <a:pPr lvl="1"/>
            <a:r>
              <a:rPr lang="en-US" sz="1500" dirty="0">
                <a:latin typeface="Times New Roman" pitchFamily="18" charset="0"/>
                <a:cs typeface="Times New Roman" pitchFamily="18" charset="0"/>
              </a:rPr>
              <a:t>Lower BER = better communication quality.</a:t>
            </a:r>
          </a:p>
          <a:p>
            <a:r>
              <a:rPr lang="en-US" sz="1500" b="1" dirty="0">
                <a:latin typeface="Times New Roman" pitchFamily="18" charset="0"/>
                <a:cs typeface="Times New Roman" pitchFamily="18" charset="0"/>
              </a:rPr>
              <a:t>Problem in Wireless:</a:t>
            </a:r>
            <a:endParaRPr lang="en-US" sz="1500" dirty="0">
              <a:latin typeface="Times New Roman" pitchFamily="18" charset="0"/>
              <a:cs typeface="Times New Roman" pitchFamily="18" charset="0"/>
            </a:endParaRPr>
          </a:p>
          <a:p>
            <a:pPr lvl="1"/>
            <a:r>
              <a:rPr lang="en-US" sz="1500" dirty="0">
                <a:latin typeface="Times New Roman" pitchFamily="18" charset="0"/>
                <a:cs typeface="Times New Roman" pitchFamily="18" charset="0"/>
              </a:rPr>
              <a:t>Wireless signals face fading, noise, and interference.</a:t>
            </a:r>
          </a:p>
          <a:p>
            <a:pPr lvl="1"/>
            <a:r>
              <a:rPr lang="en-US" sz="1500" dirty="0">
                <a:latin typeface="Times New Roman" pitchFamily="18" charset="0"/>
                <a:cs typeface="Times New Roman" pitchFamily="18" charset="0"/>
              </a:rPr>
              <a:t>This increases BER (more errors in received bits).</a:t>
            </a:r>
          </a:p>
          <a:p>
            <a:r>
              <a:rPr lang="en-US" sz="1500" b="1" dirty="0">
                <a:latin typeface="Times New Roman" pitchFamily="18" charset="0"/>
                <a:cs typeface="Times New Roman" pitchFamily="18" charset="0"/>
              </a:rPr>
              <a:t>How Diversity Helps:</a:t>
            </a:r>
            <a:endParaRPr lang="en-US" sz="1500" dirty="0">
              <a:latin typeface="Times New Roman" pitchFamily="18" charset="0"/>
              <a:cs typeface="Times New Roman" pitchFamily="18" charset="0"/>
            </a:endParaRPr>
          </a:p>
          <a:p>
            <a:pPr lvl="1"/>
            <a:r>
              <a:rPr lang="en-US" sz="1500" dirty="0">
                <a:latin typeface="Times New Roman" pitchFamily="18" charset="0"/>
                <a:cs typeface="Times New Roman" pitchFamily="18" charset="0"/>
              </a:rPr>
              <a:t>By sending/receiving the same signal in </a:t>
            </a:r>
            <a:r>
              <a:rPr lang="en-US" sz="1500" b="1" dirty="0">
                <a:latin typeface="Times New Roman" pitchFamily="18" charset="0"/>
                <a:cs typeface="Times New Roman" pitchFamily="18" charset="0"/>
              </a:rPr>
              <a:t>different ways</a:t>
            </a:r>
            <a:r>
              <a:rPr lang="en-US" sz="1500" dirty="0">
                <a:latin typeface="Times New Roman" pitchFamily="18" charset="0"/>
                <a:cs typeface="Times New Roman" pitchFamily="18" charset="0"/>
              </a:rPr>
              <a:t> (time, frequency, space), the chance of all signals being bad at once is very low.</a:t>
            </a:r>
          </a:p>
          <a:p>
            <a:pPr lvl="1"/>
            <a:r>
              <a:rPr lang="en-US" sz="1500" dirty="0">
                <a:latin typeface="Times New Roman" pitchFamily="18" charset="0"/>
                <a:cs typeface="Times New Roman" pitchFamily="18" charset="0"/>
              </a:rPr>
              <a:t>Receiver combines these signals → fewer errors → </a:t>
            </a:r>
            <a:r>
              <a:rPr lang="en-US" sz="1500" b="1" dirty="0">
                <a:latin typeface="Times New Roman" pitchFamily="18" charset="0"/>
                <a:cs typeface="Times New Roman" pitchFamily="18" charset="0"/>
              </a:rPr>
              <a:t>BER reduces</a:t>
            </a:r>
            <a:r>
              <a:rPr lang="en-US" sz="1500" dirty="0">
                <a:latin typeface="Times New Roman" pitchFamily="18" charset="0"/>
                <a:cs typeface="Times New Roman" pitchFamily="18" charset="0"/>
              </a:rPr>
              <a:t>.</a:t>
            </a:r>
          </a:p>
          <a:p>
            <a:r>
              <a:rPr lang="en-US" sz="1500" b="1" dirty="0">
                <a:latin typeface="Times New Roman" pitchFamily="18" charset="0"/>
                <a:cs typeface="Times New Roman" pitchFamily="18" charset="0"/>
              </a:rPr>
              <a:t>Example:</a:t>
            </a:r>
            <a:endParaRPr lang="en-US" sz="1500" dirty="0">
              <a:latin typeface="Times New Roman" pitchFamily="18" charset="0"/>
              <a:cs typeface="Times New Roman" pitchFamily="18" charset="0"/>
            </a:endParaRPr>
          </a:p>
          <a:p>
            <a:pPr lvl="1"/>
            <a:r>
              <a:rPr lang="en-US" sz="1500" dirty="0">
                <a:latin typeface="Times New Roman" pitchFamily="18" charset="0"/>
                <a:cs typeface="Times New Roman" pitchFamily="18" charset="0"/>
              </a:rPr>
              <a:t>Without diversity: A mobile phone in a city gets one weak signal → voice breaks, BER is high.</a:t>
            </a:r>
          </a:p>
          <a:p>
            <a:pPr lvl="1"/>
            <a:r>
              <a:rPr lang="en-US" sz="1500" dirty="0">
                <a:latin typeface="Times New Roman" pitchFamily="18" charset="0"/>
                <a:cs typeface="Times New Roman" pitchFamily="18" charset="0"/>
              </a:rPr>
              <a:t>With </a:t>
            </a:r>
            <a:r>
              <a:rPr lang="en-US" sz="1500" b="1" dirty="0">
                <a:latin typeface="Times New Roman" pitchFamily="18" charset="0"/>
                <a:cs typeface="Times New Roman" pitchFamily="18" charset="0"/>
              </a:rPr>
              <a:t>antenna diversity (MIMO):</a:t>
            </a:r>
            <a:r>
              <a:rPr lang="en-US" sz="1500" dirty="0">
                <a:latin typeface="Times New Roman" pitchFamily="18" charset="0"/>
                <a:cs typeface="Times New Roman" pitchFamily="18" charset="0"/>
              </a:rPr>
              <a:t> Even if one path fades, another carries the data. Receiver selects/combines best signals → BER drops → voice call is clear.</a:t>
            </a:r>
          </a:p>
          <a:p>
            <a:r>
              <a:rPr lang="en-US" sz="1500" b="1" dirty="0">
                <a:latin typeface="Times New Roman" pitchFamily="18" charset="0"/>
                <a:cs typeface="Times New Roman" pitchFamily="18" charset="0"/>
              </a:rPr>
              <a:t>Key Benefit:</a:t>
            </a:r>
            <a:endParaRPr lang="en-US" sz="1500" dirty="0">
              <a:latin typeface="Times New Roman" pitchFamily="18" charset="0"/>
              <a:cs typeface="Times New Roman" pitchFamily="18" charset="0"/>
            </a:endParaRPr>
          </a:p>
          <a:p>
            <a:pPr lvl="1"/>
            <a:r>
              <a:rPr lang="en-US" sz="1500" dirty="0">
                <a:latin typeface="Times New Roman" pitchFamily="18" charset="0"/>
                <a:cs typeface="Times New Roman" pitchFamily="18" charset="0"/>
              </a:rPr>
              <a:t>Diversity = backup paths.</a:t>
            </a:r>
          </a:p>
          <a:p>
            <a:pPr lvl="1"/>
            <a:r>
              <a:rPr lang="en-US" sz="1500" dirty="0">
                <a:latin typeface="Times New Roman" pitchFamily="18" charset="0"/>
                <a:cs typeface="Times New Roman" pitchFamily="18" charset="0"/>
              </a:rPr>
              <a:t>More reliable communication, fewer errors, smoother internet and calls.</a:t>
            </a:r>
          </a:p>
          <a:p>
            <a:pPr marL="457200" lvl="1" indent="0">
              <a:buNone/>
            </a:pPr>
            <a:endParaRPr lang="en-US" sz="1600" dirty="0">
              <a:latin typeface="Times New Roman" pitchFamily="18" charset="0"/>
              <a:cs typeface="Times New Roman" pitchFamily="18" charset="0"/>
            </a:endParaRPr>
          </a:p>
          <a:p>
            <a:pPr marL="185738" lvl="1" indent="0">
              <a:buNone/>
            </a:pPr>
            <a:r>
              <a:rPr lang="en-US" sz="1600" dirty="0">
                <a:latin typeface="Times New Roman" pitchFamily="18" charset="0"/>
                <a:cs typeface="Times New Roman" pitchFamily="18" charset="0"/>
              </a:rPr>
              <a:t>Diversity reduces BER because even if one signal is disturbed, others provide correct data, improving overall communication quality.</a:t>
            </a:r>
          </a:p>
        </p:txBody>
      </p:sp>
    </p:spTree>
    <p:extLst>
      <p:ext uri="{BB962C8B-B14F-4D97-AF65-F5344CB8AC3E}">
        <p14:creationId xmlns:p14="http://schemas.microsoft.com/office/powerpoint/2010/main" val="7475792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80728"/>
            <a:ext cx="8229600" cy="5145435"/>
          </a:xfrm>
        </p:spPr>
        <p:txBody>
          <a:bodyPr/>
          <a:lstStyle/>
          <a:p>
            <a:pPr marL="0" indent="0">
              <a:buNone/>
            </a:pPr>
            <a:r>
              <a:rPr lang="en-US" b="1" dirty="0">
                <a:solidFill>
                  <a:srgbClr val="0070C0"/>
                </a:solidFill>
                <a:latin typeface="Times New Roman" pitchFamily="18" charset="0"/>
                <a:cs typeface="Times New Roman" pitchFamily="18" charset="0"/>
              </a:rPr>
              <a:t>Real-Life Example</a:t>
            </a:r>
          </a:p>
          <a:p>
            <a:pPr marL="0" indent="0">
              <a:buNone/>
            </a:pPr>
            <a:r>
              <a:rPr lang="en-US" dirty="0">
                <a:latin typeface="Times New Roman" pitchFamily="18" charset="0"/>
                <a:cs typeface="Times New Roman" pitchFamily="18" charset="0"/>
              </a:rPr>
              <a:t>When you watch YouTube on 4G/5G:</a:t>
            </a:r>
          </a:p>
          <a:p>
            <a:r>
              <a:rPr lang="en-US" dirty="0">
                <a:latin typeface="Times New Roman" pitchFamily="18" charset="0"/>
                <a:cs typeface="Times New Roman" pitchFamily="18" charset="0"/>
              </a:rPr>
              <a:t>If only one antenna/path is used, video may buffer (high BER).</a:t>
            </a:r>
          </a:p>
          <a:p>
            <a:r>
              <a:rPr lang="en-US" dirty="0">
                <a:latin typeface="Times New Roman" pitchFamily="18" charset="0"/>
                <a:cs typeface="Times New Roman" pitchFamily="18" charset="0"/>
              </a:rPr>
              <a:t>With multiple antennas (diversity), the phone gets multiple signals. If one is disturbed, another is clear → BER is reduced → video plays smoothly.</a:t>
            </a:r>
          </a:p>
          <a:p>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8401189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1600" y="908720"/>
            <a:ext cx="6994872" cy="521744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6423588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114"/>
          </a:xfrm>
        </p:spPr>
        <p:style>
          <a:lnRef idx="2">
            <a:schemeClr val="accent5"/>
          </a:lnRef>
          <a:fillRef idx="1">
            <a:schemeClr val="lt1"/>
          </a:fillRef>
          <a:effectRef idx="0">
            <a:schemeClr val="accent5"/>
          </a:effectRef>
          <a:fontRef idx="minor">
            <a:schemeClr val="dk1"/>
          </a:fontRef>
        </p:style>
        <p:txBody>
          <a:bodyPr>
            <a:normAutofit/>
          </a:bodyPr>
          <a:lstStyle/>
          <a:p>
            <a:r>
              <a:rPr lang="en-US" b="1" dirty="0">
                <a:solidFill>
                  <a:srgbClr val="0070C0"/>
                </a:solidFill>
                <a:latin typeface="Times New Roman" pitchFamily="18" charset="0"/>
                <a:cs typeface="Times New Roman" pitchFamily="18" charset="0"/>
              </a:rPr>
              <a:t>Types of Diversity</a:t>
            </a:r>
            <a:endParaRPr lang="en-IN" b="1" dirty="0">
              <a:solidFill>
                <a:srgbClr val="0070C0"/>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412776"/>
            <a:ext cx="8229600" cy="4713387"/>
          </a:xfrm>
        </p:spPr>
        <p:txBody>
          <a:bodyPr>
            <a:normAutofit fontScale="92500" lnSpcReduction="20000"/>
          </a:bodyPr>
          <a:lstStyle/>
          <a:p>
            <a:pPr marL="0" indent="0">
              <a:buNone/>
            </a:pPr>
            <a:r>
              <a:rPr lang="en-US" b="1" dirty="0">
                <a:solidFill>
                  <a:srgbClr val="C00000"/>
                </a:solidFill>
                <a:latin typeface="Times New Roman" pitchFamily="18" charset="0"/>
                <a:cs typeface="Times New Roman" pitchFamily="18" charset="0"/>
              </a:rPr>
              <a:t>1. Frequency Diversity</a:t>
            </a:r>
          </a:p>
          <a:p>
            <a:r>
              <a:rPr lang="en-US" b="1" dirty="0">
                <a:latin typeface="Times New Roman" pitchFamily="18" charset="0"/>
                <a:cs typeface="Times New Roman" pitchFamily="18" charset="0"/>
              </a:rPr>
              <a:t>Meaning:</a:t>
            </a:r>
            <a:r>
              <a:rPr lang="en-US" dirty="0">
                <a:latin typeface="Times New Roman" pitchFamily="18" charset="0"/>
                <a:cs typeface="Times New Roman" pitchFamily="18" charset="0"/>
              </a:rPr>
              <a:t> Send the same information over two or more different frequencies.</a:t>
            </a:r>
          </a:p>
          <a:p>
            <a:r>
              <a:rPr lang="en-US" b="1" dirty="0">
                <a:latin typeface="Times New Roman" pitchFamily="18" charset="0"/>
                <a:cs typeface="Times New Roman" pitchFamily="18" charset="0"/>
              </a:rPr>
              <a:t>Reason:</a:t>
            </a:r>
            <a:r>
              <a:rPr lang="en-US" dirty="0">
                <a:latin typeface="Times New Roman" pitchFamily="18" charset="0"/>
                <a:cs typeface="Times New Roman" pitchFamily="18" charset="0"/>
              </a:rPr>
              <a:t> Wireless channels may have noise or fading at some frequencies, but not all.</a:t>
            </a:r>
          </a:p>
          <a:p>
            <a:r>
              <a:rPr lang="en-US" b="1" dirty="0">
                <a:latin typeface="Times New Roman" pitchFamily="18" charset="0"/>
                <a:cs typeface="Times New Roman" pitchFamily="18" charset="0"/>
              </a:rPr>
              <a:t>How it helps:</a:t>
            </a:r>
            <a:r>
              <a:rPr lang="en-US" dirty="0">
                <a:latin typeface="Times New Roman" pitchFamily="18" charset="0"/>
                <a:cs typeface="Times New Roman" pitchFamily="18" charset="0"/>
              </a:rPr>
              <a:t> If one frequency is weak, the receiver can still get the data from the other.</a:t>
            </a:r>
          </a:p>
          <a:p>
            <a:r>
              <a:rPr lang="en-US" b="1" dirty="0">
                <a:latin typeface="Times New Roman" pitchFamily="18" charset="0"/>
                <a:cs typeface="Times New Roman" pitchFamily="18" charset="0"/>
              </a:rPr>
              <a:t>Real-Life Example:</a:t>
            </a:r>
            <a:r>
              <a:rPr lang="en-US" dirty="0">
                <a:latin typeface="Times New Roman" pitchFamily="18" charset="0"/>
                <a:cs typeface="Times New Roman" pitchFamily="18" charset="0"/>
              </a:rPr>
              <a:t> FM Radio broadcasting – a station may transmit on nearby frequencies, so even if one suffers interference, listeners can still tune in clearly.</a:t>
            </a:r>
          </a:p>
          <a:p>
            <a:endParaRPr lang="en-IN" dirty="0"/>
          </a:p>
        </p:txBody>
      </p:sp>
    </p:spTree>
    <p:extLst>
      <p:ext uri="{BB962C8B-B14F-4D97-AF65-F5344CB8AC3E}">
        <p14:creationId xmlns:p14="http://schemas.microsoft.com/office/powerpoint/2010/main" val="3638095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08720"/>
            <a:ext cx="8229600" cy="5217443"/>
          </a:xfrm>
        </p:spPr>
        <p:txBody>
          <a:bodyPr>
            <a:normAutofit fontScale="92500"/>
          </a:bodyPr>
          <a:lstStyle/>
          <a:p>
            <a:pPr marL="0" indent="0">
              <a:buNone/>
            </a:pPr>
            <a:r>
              <a:rPr lang="en-US" b="1" dirty="0">
                <a:solidFill>
                  <a:srgbClr val="C00000"/>
                </a:solidFill>
                <a:latin typeface="Times New Roman" pitchFamily="18" charset="0"/>
                <a:cs typeface="Times New Roman" pitchFamily="18" charset="0"/>
              </a:rPr>
              <a:t>2. Time Diversity</a:t>
            </a:r>
          </a:p>
          <a:p>
            <a:r>
              <a:rPr lang="en-US" b="1" dirty="0">
                <a:latin typeface="Times New Roman" pitchFamily="18" charset="0"/>
                <a:cs typeface="Times New Roman" pitchFamily="18" charset="0"/>
              </a:rPr>
              <a:t>Meaning:</a:t>
            </a:r>
            <a:r>
              <a:rPr lang="en-US" dirty="0">
                <a:latin typeface="Times New Roman" pitchFamily="18" charset="0"/>
                <a:cs typeface="Times New Roman" pitchFamily="18" charset="0"/>
              </a:rPr>
              <a:t> Send the same signal at different times.</a:t>
            </a:r>
          </a:p>
          <a:p>
            <a:r>
              <a:rPr lang="en-US" b="1" dirty="0">
                <a:latin typeface="Times New Roman" pitchFamily="18" charset="0"/>
                <a:cs typeface="Times New Roman" pitchFamily="18" charset="0"/>
              </a:rPr>
              <a:t>Reason:</a:t>
            </a:r>
            <a:r>
              <a:rPr lang="en-US" dirty="0">
                <a:latin typeface="Times New Roman" pitchFamily="18" charset="0"/>
                <a:cs typeface="Times New Roman" pitchFamily="18" charset="0"/>
              </a:rPr>
              <a:t> Wireless channels change over time due to movement, weather, or obstacles.</a:t>
            </a:r>
          </a:p>
          <a:p>
            <a:r>
              <a:rPr lang="en-US" b="1" dirty="0">
                <a:latin typeface="Times New Roman" pitchFamily="18" charset="0"/>
                <a:cs typeface="Times New Roman" pitchFamily="18" charset="0"/>
              </a:rPr>
              <a:t>How it helps:</a:t>
            </a:r>
            <a:r>
              <a:rPr lang="en-US" dirty="0">
                <a:latin typeface="Times New Roman" pitchFamily="18" charset="0"/>
                <a:cs typeface="Times New Roman" pitchFamily="18" charset="0"/>
              </a:rPr>
              <a:t> If the channel is bad at one instant, it may be good later.</a:t>
            </a:r>
          </a:p>
          <a:p>
            <a:r>
              <a:rPr lang="en-US" b="1" dirty="0">
                <a:latin typeface="Times New Roman" pitchFamily="18" charset="0"/>
                <a:cs typeface="Times New Roman" pitchFamily="18" charset="0"/>
              </a:rPr>
              <a:t>Real-Life Example:</a:t>
            </a:r>
            <a:r>
              <a:rPr lang="en-US" dirty="0">
                <a:latin typeface="Times New Roman" pitchFamily="18" charset="0"/>
                <a:cs typeface="Times New Roman" pitchFamily="18" charset="0"/>
              </a:rPr>
              <a:t> Wi-Fi or mobile data retransmissions – when a packet is lost due to poor signal, it is automatically re-sent to ensure error-free communication.</a:t>
            </a:r>
          </a:p>
          <a:p>
            <a:endParaRPr lang="en-IN" dirty="0"/>
          </a:p>
        </p:txBody>
      </p:sp>
    </p:spTree>
    <p:extLst>
      <p:ext uri="{BB962C8B-B14F-4D97-AF65-F5344CB8AC3E}">
        <p14:creationId xmlns:p14="http://schemas.microsoft.com/office/powerpoint/2010/main" val="36625189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77500" lnSpcReduction="20000"/>
          </a:bodyPr>
          <a:lstStyle/>
          <a:p>
            <a:pPr marL="0" indent="0">
              <a:buNone/>
            </a:pPr>
            <a:r>
              <a:rPr lang="en-US" b="1" dirty="0">
                <a:solidFill>
                  <a:srgbClr val="C00000"/>
                </a:solidFill>
                <a:latin typeface="Times New Roman" pitchFamily="18" charset="0"/>
                <a:cs typeface="Times New Roman" pitchFamily="18" charset="0"/>
              </a:rPr>
              <a:t>3. Space Diversity (Antenna Diversity)</a:t>
            </a:r>
          </a:p>
          <a:p>
            <a:r>
              <a:rPr lang="en-US" b="1" dirty="0">
                <a:latin typeface="Times New Roman" pitchFamily="18" charset="0"/>
                <a:cs typeface="Times New Roman" pitchFamily="18" charset="0"/>
              </a:rPr>
              <a:t>Meaning:</a:t>
            </a:r>
            <a:r>
              <a:rPr lang="en-US" dirty="0">
                <a:latin typeface="Times New Roman" pitchFamily="18" charset="0"/>
                <a:cs typeface="Times New Roman" pitchFamily="18" charset="0"/>
              </a:rPr>
              <a:t> Use multiple antennas placed at different positions (on transmitter, receiver, or both).</a:t>
            </a:r>
          </a:p>
          <a:p>
            <a:r>
              <a:rPr lang="en-US" b="1" dirty="0">
                <a:latin typeface="Times New Roman" pitchFamily="18" charset="0"/>
                <a:cs typeface="Times New Roman" pitchFamily="18" charset="0"/>
              </a:rPr>
              <a:t>Reason:</a:t>
            </a:r>
            <a:r>
              <a:rPr lang="en-US" dirty="0">
                <a:latin typeface="Times New Roman" pitchFamily="18" charset="0"/>
                <a:cs typeface="Times New Roman" pitchFamily="18" charset="0"/>
              </a:rPr>
              <a:t> Signals may fade or get blocked at one antenna, but another antenna may still receive them strongly.</a:t>
            </a:r>
          </a:p>
          <a:p>
            <a:r>
              <a:rPr lang="en-US" b="1" dirty="0">
                <a:latin typeface="Times New Roman" pitchFamily="18" charset="0"/>
                <a:cs typeface="Times New Roman" pitchFamily="18" charset="0"/>
              </a:rPr>
              <a:t>How it helps:</a:t>
            </a:r>
            <a:endParaRPr lang="en-US" dirty="0">
              <a:latin typeface="Times New Roman" pitchFamily="18" charset="0"/>
              <a:cs typeface="Times New Roman" pitchFamily="18" charset="0"/>
            </a:endParaRPr>
          </a:p>
          <a:p>
            <a:pPr lvl="1"/>
            <a:r>
              <a:rPr lang="en-US" dirty="0">
                <a:latin typeface="Times New Roman" pitchFamily="18" charset="0"/>
                <a:cs typeface="Times New Roman" pitchFamily="18" charset="0"/>
              </a:rPr>
              <a:t>Reduces signal fading (more reliable signal).</a:t>
            </a:r>
          </a:p>
          <a:p>
            <a:pPr lvl="1"/>
            <a:r>
              <a:rPr lang="en-US" dirty="0">
                <a:latin typeface="Times New Roman" pitchFamily="18" charset="0"/>
                <a:cs typeface="Times New Roman" pitchFamily="18" charset="0"/>
              </a:rPr>
              <a:t>Improves data speed (parallel paths used).</a:t>
            </a:r>
          </a:p>
          <a:p>
            <a:pPr lvl="1"/>
            <a:r>
              <a:rPr lang="en-US" dirty="0">
                <a:latin typeface="Times New Roman" pitchFamily="18" charset="0"/>
                <a:cs typeface="Times New Roman" pitchFamily="18" charset="0"/>
              </a:rPr>
              <a:t>Reduces call drops (always at least one clear signal).</a:t>
            </a:r>
          </a:p>
          <a:p>
            <a:r>
              <a:rPr lang="en-US" b="1" dirty="0">
                <a:latin typeface="Times New Roman" pitchFamily="18" charset="0"/>
                <a:cs typeface="Times New Roman" pitchFamily="18" charset="0"/>
              </a:rPr>
              <a:t>Real-Life Example:</a:t>
            </a:r>
            <a:endParaRPr lang="en-US" dirty="0">
              <a:latin typeface="Times New Roman" pitchFamily="18" charset="0"/>
              <a:cs typeface="Times New Roman" pitchFamily="18" charset="0"/>
            </a:endParaRPr>
          </a:p>
          <a:p>
            <a:pPr lvl="1"/>
            <a:r>
              <a:rPr lang="en-US" dirty="0">
                <a:latin typeface="Times New Roman" pitchFamily="18" charset="0"/>
                <a:cs typeface="Times New Roman" pitchFamily="18" charset="0"/>
              </a:rPr>
              <a:t>4G/5G mobile phones with MIMO (Multiple Input Multiple Output) use several antennas.</a:t>
            </a:r>
          </a:p>
          <a:p>
            <a:pPr lvl="1"/>
            <a:r>
              <a:rPr lang="en-US" dirty="0">
                <a:latin typeface="Times New Roman" pitchFamily="18" charset="0"/>
                <a:cs typeface="Times New Roman" pitchFamily="18" charset="0"/>
              </a:rPr>
              <a:t>This allows faster internet speed, stable video calls, and fewer dropped connections.</a:t>
            </a:r>
          </a:p>
          <a:p>
            <a:pPr lvl="1"/>
            <a:r>
              <a:rPr lang="en-US" dirty="0">
                <a:latin typeface="Times New Roman" pitchFamily="18" charset="0"/>
                <a:cs typeface="Times New Roman" pitchFamily="18" charset="0"/>
              </a:rPr>
              <a:t>Wi-Fi routers with 2 or 3 antennas also use this to give stronger coverage in a house.</a:t>
            </a:r>
          </a:p>
          <a:p>
            <a:endParaRPr lang="en-IN" dirty="0"/>
          </a:p>
        </p:txBody>
      </p:sp>
    </p:spTree>
    <p:extLst>
      <p:ext uri="{BB962C8B-B14F-4D97-AF65-F5344CB8AC3E}">
        <p14:creationId xmlns:p14="http://schemas.microsoft.com/office/powerpoint/2010/main" val="40065909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1600" y="620688"/>
            <a:ext cx="7488832" cy="536145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133706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1181</TotalTime>
  <Words>3130</Words>
  <Application>Microsoft Office PowerPoint</Application>
  <PresentationFormat>On-screen Show (4:3)</PresentationFormat>
  <Paragraphs>278</Paragraphs>
  <Slides>39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Times New Roman</vt:lpstr>
      <vt:lpstr>Wingdings</vt:lpstr>
      <vt:lpstr>Office Theme</vt:lpstr>
      <vt:lpstr>Wireless Communications and Diversity </vt:lpstr>
      <vt:lpstr>Mobile Communication</vt:lpstr>
      <vt:lpstr> Who developed mobile phones? </vt:lpstr>
      <vt:lpstr>Where did the idea come from?</vt:lpstr>
      <vt:lpstr>Example</vt:lpstr>
      <vt:lpstr>Advanced Mobile Communication</vt:lpstr>
      <vt:lpstr>PowerPoint Presentation</vt:lpstr>
      <vt:lpstr>PowerPoint Presentation</vt:lpstr>
      <vt:lpstr>Fast Fading Wireless Channel Modeling</vt:lpstr>
      <vt:lpstr>PowerPoint Presentation</vt:lpstr>
      <vt:lpstr>PowerPoint Presentation</vt:lpstr>
      <vt:lpstr>PowerPoint Presentation</vt:lpstr>
      <vt:lpstr>PowerPoint Presentation</vt:lpstr>
      <vt:lpstr>Fast Fading Wireless Channel Modeling Block Diagram</vt:lpstr>
      <vt:lpstr>PowerPoint Presentation</vt:lpstr>
      <vt:lpstr>PowerPoint Presentation</vt:lpstr>
      <vt:lpstr>PowerPoint Presentation</vt:lpstr>
      <vt:lpstr>PowerPoint Presentation</vt:lpstr>
      <vt:lpstr>PowerPoint Presentation</vt:lpstr>
      <vt:lpstr>Rayleigh Fading Channel</vt:lpstr>
      <vt:lpstr>Rician Fading Channel</vt:lpstr>
      <vt:lpstr>Rayleigh distribution and Rician distribution</vt:lpstr>
      <vt:lpstr>Rayleigh distribution and Rician distribution</vt:lpstr>
      <vt:lpstr>Fading Channel Types</vt:lpstr>
      <vt:lpstr> Rayleigh Fading Channel diagram </vt:lpstr>
      <vt:lpstr> Rician Fading Channel diagram </vt:lpstr>
      <vt:lpstr>PowerPoint Presentation</vt:lpstr>
      <vt:lpstr>BER Performance in Fading Channels</vt:lpstr>
      <vt:lpstr>PowerPoint Presentation</vt:lpstr>
      <vt:lpstr>Diversity modeling for Wireless Communications</vt:lpstr>
      <vt:lpstr>PowerPoint Presentation</vt:lpstr>
      <vt:lpstr>Diversity modeling for Wireless Communications</vt:lpstr>
      <vt:lpstr>BER Performance Improvement with diversity</vt:lpstr>
      <vt:lpstr>PowerPoint Presentation</vt:lpstr>
      <vt:lpstr>PowerPoint Presentation</vt:lpstr>
      <vt:lpstr>Types of Diversity</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EXTC06</cp:lastModifiedBy>
  <cp:revision>152</cp:revision>
  <dcterms:created xsi:type="dcterms:W3CDTF">2025-08-14T11:42:11Z</dcterms:created>
  <dcterms:modified xsi:type="dcterms:W3CDTF">2026-08-21T05:38:08Z</dcterms:modified>
</cp:coreProperties>
</file>