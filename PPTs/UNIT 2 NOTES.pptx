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4" r:id="rId4"/>
    <p:sldId id="305" r:id="rId5"/>
    <p:sldId id="262" r:id="rId6"/>
    <p:sldId id="264" r:id="rId7"/>
    <p:sldId id="259" r:id="rId8"/>
    <p:sldId id="261" r:id="rId9"/>
    <p:sldId id="306" r:id="rId10"/>
    <p:sldId id="265" r:id="rId11"/>
    <p:sldId id="268" r:id="rId12"/>
    <p:sldId id="269" r:id="rId13"/>
    <p:sldId id="266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8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93" r:id="rId34"/>
    <p:sldId id="292" r:id="rId35"/>
    <p:sldId id="294" r:id="rId36"/>
    <p:sldId id="296" r:id="rId37"/>
    <p:sldId id="295" r:id="rId38"/>
    <p:sldId id="297" r:id="rId39"/>
    <p:sldId id="301" r:id="rId40"/>
    <p:sldId id="298" r:id="rId41"/>
    <p:sldId id="299" r:id="rId42"/>
    <p:sldId id="300" r:id="rId43"/>
    <p:sldId id="302" r:id="rId44"/>
    <p:sldId id="303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5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76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3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79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1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7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0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69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76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26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1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A5B3F-3552-4DC6-8064-2719A2B8B99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EA472-7745-49CB-9AF2-16AC6D730A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32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Broadband Wireless Channel Modeling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44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WSSUS Channel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26208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b="1" dirty="0"/>
              <a:t>WSSUS Channel Modeling</a:t>
            </a:r>
          </a:p>
          <a:p>
            <a:r>
              <a:rPr lang="en-US" b="1" dirty="0"/>
              <a:t>WSS</a:t>
            </a:r>
            <a:r>
              <a:rPr lang="en-US" dirty="0"/>
              <a:t> = Wide-Sense Stationary</a:t>
            </a:r>
          </a:p>
          <a:p>
            <a:r>
              <a:rPr lang="en-US" b="1" dirty="0"/>
              <a:t>US</a:t>
            </a:r>
            <a:r>
              <a:rPr lang="en-US" dirty="0"/>
              <a:t> = Uncorrelated Scattering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06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919B5-D72F-A22F-0F05-7B1C63F5D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WSSUS Channel </a:t>
            </a:r>
            <a:r>
              <a:rPr lang="en-IN" b="1" dirty="0" err="1"/>
              <a:t>Modeling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C07BF-86B2-DA2C-9445-6E7E0A2A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Wireless Channel?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channel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path through which a signal travels from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Transmitter (Tx)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(Rx)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signal may reach the receiver through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paths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happens because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reflection, diffraction and scattering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 received signal may become weak or distorted.</a:t>
            </a:r>
          </a:p>
          <a:p>
            <a:pPr marL="0" lv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0F73A-6B8F-2CF0-A02B-E9784599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140968"/>
            <a:ext cx="7050360" cy="31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6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CAFF-FEB0-D2E9-AC1F-404A470B2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WSSUS?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0FD2C-29A4-6E63-1475-FC1A1B56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28592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WSSUS = Wide-Sense Stationary + Uncorrelated Scattering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model used to understand how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signal behaves while travelling from transmitter to receiver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WSS – Wide-Sense Stationary</a:t>
            </a: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channel does not change much for a short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conditions are considered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stable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short period.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signal strength and other statistical properties remain nearly the same. 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 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sitting in your classroom and using your mobile phone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sitting at the same place.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walls, benches, and other surroundings are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changing much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next few seconds, the mobile signal conditions remain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the same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assume that the wireless channel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for that short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called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Wide-Sense Stationary (WSS)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WSS means the wireless channel behaves almost the same for a short period of time.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67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Uncorrelated Scattering (US)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70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signal can reach the receiver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paths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these paths are considered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each other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↗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📱 ───────────────→ 📡 Receiver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↘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Vehicle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signal reaches the receiver through: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1: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path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Reflection from building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Reflection/scattering from vehicle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different paths are treated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uncorrelated (independent)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 means signals coming through different paths behave independently.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33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149080"/>
            <a:ext cx="8229600" cy="223224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Transmitter: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You shout a word.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Multipath / Uncorrelated Scattering: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Your voice reaches your friend directly and also bounces off walls, table, and chair. Each bounce is independent.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WSSUS: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echo pattern stays roughly the same over short time (WSS), and each bounce is treated independently (US).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6"/>
            <a:ext cx="6788944" cy="3240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30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08720"/>
            <a:ext cx="6994872" cy="521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36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1. Transmitter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starting point of the signal.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Your mobile phone sending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message (signal goes out as radio waves).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2. Multipath (Signal Bouncing)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signal does not travel in one clean path.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bounces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off objects like: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Buildings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Trees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Cars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Walls inside a room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So, at the receiver, we don’t get one signal but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many copies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each: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arriving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late or early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(delay)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becoming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strong or weak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(strength)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possibly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flipped in phase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(phase difference).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WSSUS model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bounced copy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independent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(Uncorrelated Scattering).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overall behavior doesn’t change much in short time (Wide-Sense Stationary).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3. Receiver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Collects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all those copies mixed together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then uses special techniques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rebuild the original message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copies overlap in a bad way →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fading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(signal becomes weak).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they overlap nicely →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constructive addition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(signal becomes stronger).</a:t>
            </a:r>
          </a:p>
        </p:txBody>
      </p:sp>
    </p:spTree>
    <p:extLst>
      <p:ext uri="{BB962C8B-B14F-4D97-AF65-F5344CB8AC3E}">
        <p14:creationId xmlns:p14="http://schemas.microsoft.com/office/powerpoint/2010/main" val="1072478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C513-83EA-CF1A-BD5C-3F1D39AF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WSS – Wide-Sense Stationary</a:t>
            </a:r>
            <a:b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34B72-C6EA-55E2-F3E1-CC45FE60B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WSS means the channel behaves almost the same over a short period of time.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changes can happen, but 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</a:t>
            </a:r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similar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buNone/>
            </a:pP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value (mean)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almost the same. 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power/variation (variance)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almost the same. 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between signals at two different times (correlation)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mainly on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time has passed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on the exact time. </a:t>
            </a:r>
          </a:p>
          <a:p>
            <a:pPr lvl="0"/>
            <a:endParaRPr lang="en-IN" sz="35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Example: Fan Sound</a:t>
            </a: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about a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running continuously in your room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fan produces almost 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average sound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remains same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loudness does not suddenly become very high or very low →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remains almost same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fan sound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and after 2 seconds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Their similarity depends on the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2-second gap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whether it is 10 AM or 11 AM → 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depends on time difference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WSS means: The overall </a:t>
            </a:r>
            <a:r>
              <a:rPr lang="en-IN" sz="3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stays almost the same with time, even though small changes may occur.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241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RMS Delay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02634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 Delay Spread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tells us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a signal spreads in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travels through different paths.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signal parts arrive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others arrive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reflections and echoes.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much the signal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“spread or smeared” in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shouting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“HELLO”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large hall: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→ HELLO → HELLO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sound arrives first, and reflected sounds arrive a little later.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in wireless communication, the same signal can arrive at different times.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on Communication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RMS Delay Spread → More signal spreading → More ISI → More errors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delay spread: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arrives almost together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ISI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delay spread: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 arrives at different times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ISI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 Delay Spread measures how much a wireless signal is spread in time due to multipath propagation.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43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92696"/>
            <a:ext cx="7344816" cy="5433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177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Diagram shows how a signal from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transmitter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reaches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receiver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through multiple paths: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Path 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arrives first (0 µs delay), strongest signal.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Path 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arrives slightly later (1 µs delay), medium strength.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Path 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arrives much later (3 µs delay), weakest signal.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These different arrival times create a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spread in delays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which is measured as 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RMS Delay Spread (</a:t>
            </a:r>
            <a:r>
              <a:rPr lang="en-US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στ</a:t>
            </a: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tells how much the signals are spread around the average delay.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018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692696"/>
            <a:ext cx="7354912" cy="5433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14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RMS Delay Spread Numerical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transmitter sends a signal, and the receiver gets two multipath components: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Path 1 arrives 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τ₁ = 0.1 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Path 2 arrives 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τ₂ = 0.2 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Assume both paths have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equal received power (P₁ = P₂ = 1)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Find: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Mean Excess Delay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(τ̄)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RMS Delay Spread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στ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​)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318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2696"/>
            <a:ext cx="7560840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89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28945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Mean Excess Delay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mean delay = 0.15 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906" y="1700808"/>
            <a:ext cx="4371553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8621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RMS Delay Spread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Mean Excess Delay (τ̄)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0.15 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RMS Delay Spread (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στ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0.05 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56792"/>
            <a:ext cx="5551884" cy="3456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995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 receiver detects 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three multipath components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from a transmitter. The delays and received powers are: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Calculate: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Mean Excess Delay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(τ̄)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RMS Delay Spread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στ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​)</a:t>
            </a:r>
          </a:p>
          <a:p>
            <a:pPr marL="0" indent="0">
              <a:buNone/>
            </a:pPr>
            <a:endParaRPr lang="en-US" sz="2200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21961"/>
              </p:ext>
            </p:extLst>
          </p:nvPr>
        </p:nvGraphicFramePr>
        <p:xfrm>
          <a:off x="1043608" y="1844825"/>
          <a:ext cx="7056786" cy="266429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52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Delay (</a:t>
                      </a:r>
                      <a:r>
                        <a:rPr lang="el-GR" dirty="0"/>
                        <a:t>τ</a:t>
                      </a:r>
                      <a:r>
                        <a:rPr lang="en-IN" dirty="0"/>
                        <a:t>ᵢ) in µs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Power (Pᵢ)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0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105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Mean Excess Delay (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τ̄):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00808"/>
            <a:ext cx="2880320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319" y="3212976"/>
            <a:ext cx="5236956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410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904656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RMS Delay Spread (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στ):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Mean Excess Delay (τ̄)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1.6 µs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RMS Delay Spread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στ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1.91 µs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196752"/>
            <a:ext cx="2930481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564904"/>
            <a:ext cx="6048672" cy="260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63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Doppler Fading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or receiver is moving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received signal frequency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is called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Doppler Effect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this,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strength </a:t>
            </a:r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goes up and down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 (fading).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changing signal strength is called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Doppler Fading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listening to FM radio while travelling in a moving car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car moves, the radio signal changes.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sound may become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→ weak → clear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happens because of changes in the received signal due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Doppler fading is the variation in signal strength caused by the movement of the transmitter or receiver.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401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Impact of Doppler Fading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Signal Strength Changes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The signal becomes strong and weak quickly.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Frequency Shift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Causes errors in decoding at the receiver.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Fast Fading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If speed is high (like in a car/train), fading happens very rapidly.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Reduced Data Quality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Leads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distortion, call drops, or lower internet speed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When you are on a fast-moving train, your mobile call or internet may break or fluctuate. This is due to Doppler fading.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0095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20"/>
            <a:ext cx="7488832" cy="52174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350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Jakes Model</a:t>
            </a:r>
            <a:endParaRPr lang="en-IN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Jakes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method used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wireless signal fading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the signal strength changes because of: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(reflections) 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Doppler effect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(movement)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Widely used for </a:t>
            </a:r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Rayleigh fading simulation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travelling in a car may receive signals reflected from buildings and vehicles.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movement, the signal strength changes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→ weak → strong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Jakes Model creates this type of signal variation in a computer simulation.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Jakes Model is a mathematical method used in computers to imitate the signal fluctuations caused by multipath and movement.</a:t>
            </a:r>
          </a:p>
        </p:txBody>
      </p:sp>
    </p:spTree>
    <p:extLst>
      <p:ext uri="{BB962C8B-B14F-4D97-AF65-F5344CB8AC3E}">
        <p14:creationId xmlns:p14="http://schemas.microsoft.com/office/powerpoint/2010/main" val="2553648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994122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Fading Channel Types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600200"/>
            <a:ext cx="6788944" cy="45259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644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612068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The diagram shows that signals from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a cell tower reach a moving mobile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through many reflected paths. Because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 the car is moving, the received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frequency shifts (Doppler effect).</a:t>
            </a:r>
            <a:br>
              <a:rPr lang="en-US" sz="3800" dirty="0">
                <a:latin typeface="Times New Roman" pitchFamily="18" charset="0"/>
                <a:cs typeface="Times New Roman" pitchFamily="18" charset="0"/>
              </a:rPr>
            </a:b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Jakes Model is used to simulate and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predict this fading behavior in mobile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communication.</a:t>
            </a:r>
          </a:p>
          <a:p>
            <a:pPr marL="0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What Jakes Model Does</a:t>
            </a:r>
          </a:p>
          <a:p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Jakes Model is used to </a:t>
            </a:r>
          </a:p>
          <a:p>
            <a:pPr marL="0" indent="0">
              <a:buNone/>
            </a:pPr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simulate fading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 in mobile communication.</a:t>
            </a:r>
          </a:p>
          <a:p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It explains how signals </a:t>
            </a:r>
          </a:p>
          <a:p>
            <a:pPr marL="0" indent="0">
              <a:buNone/>
            </a:pPr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weaken, strengthen, or fluctuate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 because of:</a:t>
            </a:r>
          </a:p>
          <a:p>
            <a:pPr lvl="1"/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Multipath reflections</a:t>
            </a: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Doppler effect (movement)</a:t>
            </a:r>
            <a:endParaRPr lang="en-US" sz="3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Helps engineers </a:t>
            </a:r>
            <a:r>
              <a:rPr lang="en-US" sz="4200" b="1" dirty="0">
                <a:latin typeface="Times New Roman" pitchFamily="18" charset="0"/>
                <a:cs typeface="Times New Roman" pitchFamily="18" charset="0"/>
              </a:rPr>
              <a:t>design reliable wireless systems</a:t>
            </a: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 (like 4G/5G).</a:t>
            </a:r>
          </a:p>
          <a:p>
            <a:pPr marL="0" indent="0">
              <a:buNone/>
            </a:pPr>
            <a:endParaRPr lang="en-US" sz="4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Jakes Model mathematically shows how a mobile signal fades due to reflections and Doppler shift when the user is moving.</a:t>
            </a:r>
            <a:endParaRPr lang="en-IN" sz="4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16632"/>
            <a:ext cx="4896544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548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Jakes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shows how a moving signal’s strength spreads over frequencies when it bounces off objects, helping design better mobile networks.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car moving at 60 km/h gets signals reflected from buildings. Jakes Spectrum tells us how the power of these signals spreads across different frequency shifts caused by movement.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Jakes Spectrum shows how their frequencies spread.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Jakes Model = How to CREATE/SIMULATE fading</a:t>
            </a:r>
          </a:p>
          <a:p>
            <a:pPr lvl="0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Jakes Spectrum = How to SEE/ANALYZE the frequency spread of fading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289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24744"/>
            <a:ext cx="417646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4444752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5528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Autocorrelation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54461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Autocorrelation shows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how similar a signal is to itself after a time delay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It helps to understand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how fast or slow the wireless channel changes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over time.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High Autocorrelation: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The signal does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not change much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with time.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The channel is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slowly varying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stable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Low Autocorrelation: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The signal changes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quickly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over time.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The channel is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fast fading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rapidly varying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Imagine you are listening to a radio while traveling in a car: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If the signal strength stays almost same as you move →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High Autocorrelation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If the signal strength changes up and down quickly →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Low Autocorrelation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In Short:</a:t>
            </a:r>
            <a:br>
              <a:rPr lang="en-US" sz="3400" dirty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Autocorrelation =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Signal similarity over time</a:t>
            </a:r>
            <a:br>
              <a:rPr lang="en-US" sz="3400" dirty="0">
                <a:latin typeface="Times New Roman" pitchFamily="18" charset="0"/>
                <a:cs typeface="Times New Roman" pitchFamily="18" charset="0"/>
              </a:rPr>
            </a:b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It shows </a:t>
            </a:r>
            <a:r>
              <a:rPr lang="en-US" sz="3400" b="1" dirty="0">
                <a:latin typeface="Times New Roman" pitchFamily="18" charset="0"/>
                <a:cs typeface="Times New Roman" pitchFamily="18" charset="0"/>
              </a:rPr>
              <a:t>how stable or changing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 the wireless channel is.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089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2657"/>
            <a:ext cx="7344816" cy="3384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9552" y="3933056"/>
            <a:ext cx="8208912" cy="2535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High Autocorrelation: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Signal stays smooth and similar over time.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Watching TV at home , the signal is stable because you are not moving.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Low Autocorrelation: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Signal changes quickly and irregularly.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Talking on mobile while traveling in a train, the signal keeps going up and down quickly.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512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34605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Cellular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589640" cy="619268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Cellular Communication is a system where a large area is divided into small areas called cells, and each cell has a base station/tower to provide mobile communication.</a:t>
            </a:r>
          </a:p>
          <a:p>
            <a:pPr>
              <a:lnSpc>
                <a:spcPct val="120000"/>
              </a:lnSpc>
            </a:pPr>
            <a:r>
              <a:rPr lang="en-US" sz="1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Cell Concept:</a:t>
            </a:r>
            <a:br>
              <a:rPr lang="en-US" sz="1300" dirty="0">
                <a:latin typeface="Times New Roman" pitchFamily="18" charset="0"/>
                <a:cs typeface="Times New Roman" pitchFamily="18" charset="0"/>
              </a:rPr>
            </a:b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The whole area (like a city) is divided into small zones called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cells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300" dirty="0">
                <a:latin typeface="Times New Roman" pitchFamily="18" charset="0"/>
                <a:cs typeface="Times New Roman" pitchFamily="18" charset="0"/>
              </a:rPr>
            </a:b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Each cell has its own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base station (tower)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that connects phones in that area to the network.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Why Divide into Cells:</a:t>
            </a:r>
            <a:endParaRPr lang="en-US" sz="1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reuse frequencies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in different cells.</a:t>
            </a:r>
          </a:p>
          <a:p>
            <a:pPr>
              <a:lnSpc>
                <a:spcPct val="120000"/>
              </a:lnSpc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cover large areas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with less power.</a:t>
            </a:r>
          </a:p>
          <a:p>
            <a:pPr>
              <a:lnSpc>
                <a:spcPct val="120000"/>
              </a:lnSpc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reduce interference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between users.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 Parts:</a:t>
            </a:r>
            <a:endParaRPr lang="en-US" sz="1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Mobile Station (MS):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Your mobile phone.</a:t>
            </a:r>
          </a:p>
          <a:p>
            <a:pPr>
              <a:lnSpc>
                <a:spcPct val="120000"/>
              </a:lnSpc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Base Station (BS):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Tower that connects your phone to the network.</a:t>
            </a:r>
          </a:p>
          <a:p>
            <a:pPr>
              <a:lnSpc>
                <a:spcPct val="120000"/>
              </a:lnSpc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Mobile Switching Center (MSC):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 Connects different towers and manages calls/data.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It Works:</a:t>
            </a:r>
            <a:endParaRPr lang="en-US" sz="1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You make a call → phone sends signal to nearest tower (base station).</a:t>
            </a:r>
          </a:p>
          <a:p>
            <a:pPr>
              <a:lnSpc>
                <a:spcPct val="120000"/>
              </a:lnSpc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Tower connects to switching center → switching center routes your call to the receiver’s tower → receiver’s phone gets connected.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Advantages:</a:t>
            </a:r>
            <a:br>
              <a:rPr lang="en-US" sz="1300" dirty="0">
                <a:latin typeface="Times New Roman" pitchFamily="18" charset="0"/>
                <a:cs typeface="Times New Roman" pitchFamily="18" charset="0"/>
              </a:rPr>
            </a:br>
            <a:r>
              <a:rPr lang="en-US" sz="13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Wide coverage</a:t>
            </a:r>
            <a:br>
              <a:rPr lang="en-US" sz="13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3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Better frequency use</a:t>
            </a:r>
            <a:br>
              <a:rPr lang="en-US" sz="13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3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Continuous service even when moving (mobility)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Real-Life Example:</a:t>
            </a:r>
            <a:endParaRPr lang="en-US" sz="1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When you travel and still talk on the phone without disconnection….that’s cellular communication at work.</a:t>
            </a:r>
          </a:p>
        </p:txBody>
      </p:sp>
    </p:spTree>
    <p:extLst>
      <p:ext uri="{BB962C8B-B14F-4D97-AF65-F5344CB8AC3E}">
        <p14:creationId xmlns:p14="http://schemas.microsoft.com/office/powerpoint/2010/main" val="1196847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4896544" cy="626469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Mobile Phone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user speaks or sends data (voice, text, internet).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phone converts the voice/data into radio signals.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Base Station (Tower)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tower receives the signal from the phone.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sends the signal to the nearest switching center.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Mobile Switching Center (MSC)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Acts like a control hub.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decides where the signal should go — to another phone or network.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Receiver (Other User)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final user gets the signal as voice or data on their phone.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692696"/>
            <a:ext cx="3240360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37485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Frequency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6064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It means using the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same frequency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in different areas (cells) of a network.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Why: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save frequency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increase capacity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of the cellular network.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Limited frequencies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Mobile networks have limited frequency channels.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Area divided into cells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The whole area is divided into small parts called cells.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Different frequencies for nearby cells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Neighboring cells use different frequencies to avoid mixing signals.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Same frequencies reused far away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Distant cells can use 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same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frequencies again safely.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This reuse saves spectrum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It allows more users to talk at the same time using limited frequencies.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Cluster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A group of cells using all available frequencies is called a cluster.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Reuse distance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→ The distance between two cells using the same frequency.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Result: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Efficient use of limited frequency bands.</a:t>
            </a:r>
          </a:p>
          <a:p>
            <a:pPr lvl="1">
              <a:lnSpc>
                <a:spcPct val="12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More users can communicate at the same time.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 short: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frequencies are reused in distant cells → saves bandwidth and increases coverage.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370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60648"/>
            <a:ext cx="8064896" cy="237626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Frequency reuse means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using the same frequencies again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different parts of a mobile network, but only 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far-away areas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so that signals don’t mix.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Cells with same letter use the same set of frequency channels.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Suppose there are 7 cells (A–G).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cell gets different frequencies.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After one cluster, the same A–G pattern repeats in another far area.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So, Cell A in cluster 1 and Cell A in cluster 2 use 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same frequency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— but they’re far apart, so no interference.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708920"/>
            <a:ext cx="4195574" cy="33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96952"/>
            <a:ext cx="452437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6098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Multiple Access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03244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Access Technologies allow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users to share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network or frequency band.</a:t>
            </a:r>
          </a:p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To let multiple users communicate at the same 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interference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5834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50405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en-US" sz="2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Main Types Of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Multiple Access Technologies</a:t>
            </a:r>
            <a:b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28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FDMA (Frequency Division Multiple Access)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user gets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separate frequency band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Like different radio stations using different frequencies.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.TDMA (Time Division Multiple Access)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users share the same frequency but use it 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different time slots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Like people talking one after another in turns.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CDMA (Code Division Multiple Access)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users share the same frequency and time but use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unique codes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separate signals.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Many people talking at once, but each speaks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different language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so you understand your friend’s language only.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OFDMA (Orthogonal Frequency Division Multiple Access)</a:t>
            </a: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Frequency is divided into small sub-channels, and users get different sub-channels.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Like dividing a highway into lanes, each user gets a lane to travel smoothly.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FDMA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Different frequency.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TDMA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Different time.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CDMA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Different code.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OFDMA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Different sub-frequencies (lanes).</a:t>
            </a:r>
            <a:endParaRPr lang="en-US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082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60338"/>
            <a:ext cx="8440489" cy="650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6204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Cellular process</a:t>
            </a:r>
            <a:endParaRPr lang="en-IN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8457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Cellular process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means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steps or actions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that happen inside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cellular network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make communication (like calls or data) work properly.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Used for: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Making, maintaining, and ending calls or data connections.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🔸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 cellular processes: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Call setup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starting a call.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Handover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moving a call between towers.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Call termination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ending a call.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Location update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phone tells the network where it is.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Roaming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using your phone in another network area.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you call your friend while traveling -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your phone connects to the nearest tower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call setup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switches to new towers as you move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handover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and ends smoothly when you hang up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call termination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646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32656"/>
            <a:ext cx="6192688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1157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576064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Call Setup (When a call starts)</a:t>
            </a:r>
            <a:b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User dials a number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The mobile sends a request to the nearest cell tower (Base Station).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Tower checks signal &amp; availability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It finds an empty channel for communication.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Network connects both users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The Mobile Switching Center (MSC) connects the caller and receiver through available paths.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Call established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Voice/data starts flowing between both mobiles.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When you call your friend, your phone connects to the nearest tower → MSC finds your friend’s tower → connects both → call starts.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859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Handover (During a moving call)</a:t>
            </a:r>
            <a:b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User moves from one area to another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while on a call.</a:t>
            </a:r>
          </a:p>
          <a:p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Signal strength drops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in the old cell and increases in the new cell.</a:t>
            </a:r>
          </a:p>
          <a:p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Network transfers the call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from the old cell tower to the new one without breaking the call.</a:t>
            </a:r>
          </a:p>
          <a:p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Call continues smoothly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with no cut.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3000" dirty="0">
                <a:latin typeface="Times New Roman" pitchFamily="18" charset="0"/>
                <a:cs typeface="Times New Roman" pitchFamily="18" charset="0"/>
              </a:rPr>
            </a:b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You’re talking on your phone while traveling in a car the call continues as your connection shifts from one tower to the next (</a:t>
            </a:r>
            <a:r>
              <a:rPr lang="en-US" sz="3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handover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96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Teletraffic</a:t>
            </a:r>
            <a:r>
              <a:rPr lang="en-IN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547260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It’s the study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phone calls or data traffic flow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a network.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Goal: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make sure the network can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handle many users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delay or call drops.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Used for: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Planning how many lines, channels, or towers are needed for smooth communication.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 idea: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Calls arrive randomly.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Some calls are busy, some get blocked.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network must manage all efficiently.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Measured in: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→ a unit that measures traffic load (1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one call for one hour continuously).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tower can handle 100 calls at once.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If 120 users try calling, 20 calls may get blocked.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Engineers use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teletraffic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theory to increase capacity or reduce blocking.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In short:</a:t>
            </a:r>
          </a:p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Teletraffic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theory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helps design a network so that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most calls connect smoothly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even when many users call at the same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51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Working of </a:t>
            </a:r>
            <a:r>
              <a:rPr lang="en-US" b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Teletraffic</a:t>
            </a: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Theory</a:t>
            </a:r>
            <a:b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30626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Call requests start: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Many users try to make calls at the same time → these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incoming calls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 receives calls: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calls enter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(like towers or switches) which has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limited channels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Some calls connect: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If free channels are available, calls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connected successfully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Some calls get blocked: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If all channels are busy, new calls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blocked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(can’t connect).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Blocking probability: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network calculates how many calls are blocked  shown as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percentage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(example: 20% blocked).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Traffic measurement: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Total call load is measured in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know how busy the network is.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 improvement: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Engineers use this data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add more channels or towers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reduce blocking and improve service.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people try to call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same time.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calls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successfully connected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Outgoing calls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calls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connect because the network is busy 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calls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= 20%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how </a:t>
            </a:r>
            <a:r>
              <a:rPr lang="en-I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teletraffic</a:t>
            </a: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theory studies network traffic and blocked calls.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99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1"/>
          <a:stretch/>
        </p:blipFill>
        <p:spPr bwMode="auto">
          <a:xfrm>
            <a:off x="2195736" y="764704"/>
            <a:ext cx="5112568" cy="513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93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3366</Words>
  <Application>Microsoft Office PowerPoint</Application>
  <PresentationFormat>On-screen Show (4:3)</PresentationFormat>
  <Paragraphs>362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Times New Roman</vt:lpstr>
      <vt:lpstr>Office Theme</vt:lpstr>
      <vt:lpstr>Broadband Wireless Channel Modeling </vt:lpstr>
      <vt:lpstr>WSSUS Channel Modeling</vt:lpstr>
      <vt:lpstr>WSSUS Channel Modeling </vt:lpstr>
      <vt:lpstr> What is WSSUS? </vt:lpstr>
      <vt:lpstr> Uncorrelated Scattering (US) </vt:lpstr>
      <vt:lpstr>Transmitter: You shout a word. Multipath / Uncorrelated Scattering: Your voice reaches your friend directly and also bounces off walls, table, and chair. Each bounce is independent. WSSUS: The echo pattern stays roughly the same over short time (WSS), and each bounce is treated independently (US). </vt:lpstr>
      <vt:lpstr>PowerPoint Presentation</vt:lpstr>
      <vt:lpstr>PowerPoint Presentation</vt:lpstr>
      <vt:lpstr> WSS – Wide-Sense Stationary </vt:lpstr>
      <vt:lpstr>RMS Delay Spread</vt:lpstr>
      <vt:lpstr>PowerPoint Presentation</vt:lpstr>
      <vt:lpstr>PowerPoint Presentation</vt:lpstr>
      <vt:lpstr>PowerPoint Presentation</vt:lpstr>
      <vt:lpstr>RMS Delay Spread Numerical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Doppler Fading</vt:lpstr>
      <vt:lpstr>Impact of Doppler Fading</vt:lpstr>
      <vt:lpstr>PowerPoint Presentation</vt:lpstr>
      <vt:lpstr>Jakes Model</vt:lpstr>
      <vt:lpstr>Fading Channel Types</vt:lpstr>
      <vt:lpstr>PowerPoint Presentation</vt:lpstr>
      <vt:lpstr>Jakes Spectrum</vt:lpstr>
      <vt:lpstr>PowerPoint Presentation</vt:lpstr>
      <vt:lpstr>Autocorrelation</vt:lpstr>
      <vt:lpstr>PowerPoint Presentation</vt:lpstr>
      <vt:lpstr>Cellular Communications</vt:lpstr>
      <vt:lpstr>PowerPoint Presentation</vt:lpstr>
      <vt:lpstr>Frequency Reuse</vt:lpstr>
      <vt:lpstr>PowerPoint Presentation</vt:lpstr>
      <vt:lpstr>Multiple Access Technologies</vt:lpstr>
      <vt:lpstr> Main Types Of Multiple Access Technologies </vt:lpstr>
      <vt:lpstr>PowerPoint Presentation</vt:lpstr>
      <vt:lpstr>Cellular process</vt:lpstr>
      <vt:lpstr>PowerPoint Presentation</vt:lpstr>
      <vt:lpstr> Call Setup (When a call starts) </vt:lpstr>
      <vt:lpstr> Handover (During a moving call) </vt:lpstr>
      <vt:lpstr>Teletraffic Theory</vt:lpstr>
      <vt:lpstr> Working of Teletraffic Theory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Broadband Wireless Channel Modeling </dc:title>
  <dc:creator>Windows User</dc:creator>
  <cp:lastModifiedBy>EXTC06</cp:lastModifiedBy>
  <cp:revision>188</cp:revision>
  <dcterms:created xsi:type="dcterms:W3CDTF">2025-09-22T07:06:37Z</dcterms:created>
  <dcterms:modified xsi:type="dcterms:W3CDTF">2026-09-10T05:47:08Z</dcterms:modified>
</cp:coreProperties>
</file>